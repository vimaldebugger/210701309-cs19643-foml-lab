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78" r:id="rId5"/>
    <p:sldId id="264" r:id="rId6"/>
    <p:sldId id="279" r:id="rId7"/>
    <p:sldId id="259" r:id="rId8"/>
    <p:sldId id="260" r:id="rId9"/>
    <p:sldId id="262" r:id="rId10"/>
    <p:sldId id="274" r:id="rId11"/>
    <p:sldId id="265" r:id="rId12"/>
    <p:sldId id="280" r:id="rId13"/>
    <p:sldId id="281" r:id="rId14"/>
    <p:sldId id="270" r:id="rId15"/>
    <p:sldId id="271" r:id="rId16"/>
    <p:sldId id="272" r:id="rId17"/>
    <p:sldId id="282" r:id="rId18"/>
    <p:sldId id="283" r:id="rId19"/>
    <p:sldId id="273" r:id="rId20"/>
  </p:sldIdLst>
  <p:sldSz cx="9144000" cy="6858000" type="screen4x3"/>
  <p:notesSz cx="6858000" cy="9144000"/>
  <p:embeddedFontLst>
    <p:embeddedFont>
      <p:font typeface="Open Sans ExtraBold" panose="020B0906030804020204" pitchFamily="34" charset="0"/>
      <p:bold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jz++ykIk9HnYRbu1Fk8J58ijoz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2FBFC6-B900-4C24-9E69-20D259D9EA4D}">
  <a:tblStyle styleId="{9B2FBFC6-B900-4C24-9E69-20D259D9EA4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930" y="31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extLst>
      <p:ext uri="{BB962C8B-B14F-4D97-AF65-F5344CB8AC3E}">
        <p14:creationId xmlns:p14="http://schemas.microsoft.com/office/powerpoint/2010/main" val="330636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44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19"/>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Calibri"/>
                <a:ea typeface="Calibri"/>
                <a:cs typeface="Calibri"/>
                <a:sym typeface="Calibri"/>
              </a:rPr>
              <a:t>Department of Computer Science and Engineering</a:t>
            </a:r>
            <a:endParaRPr sz="1600" b="0" i="0" u="none" strike="noStrike" cap="none">
              <a:solidFill>
                <a:srgbClr val="FFFFFF"/>
              </a:solidFill>
              <a:latin typeface="Calibri"/>
              <a:ea typeface="Calibri"/>
              <a:cs typeface="Calibri"/>
              <a:sym typeface="Calibri"/>
            </a:endParaRPr>
          </a:p>
        </p:txBody>
      </p:sp>
      <p:cxnSp>
        <p:nvCxnSpPr>
          <p:cNvPr id="23" name="Google Shape;23;p19"/>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19"/>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Calibri"/>
                <a:ea typeface="Calibri"/>
                <a:cs typeface="Calibri"/>
                <a:sym typeface="Calibri"/>
              </a:rPr>
              <a:t>Rajalakshmi Engineering College 		</a:t>
            </a:r>
            <a:fld id="{00000000-1234-1234-1234-123412341234}" type="slidenum">
              <a:rPr lang="en-US" sz="1600" b="0" i="0" u="none" strike="noStrike" cap="none">
                <a:solidFill>
                  <a:srgbClr val="FFFFFF"/>
                </a:solidFill>
                <a:latin typeface="Calibri"/>
                <a:ea typeface="Calibri"/>
                <a:cs typeface="Calibri"/>
                <a:sym typeface="Calibri"/>
              </a:rPr>
              <a:t>‹#›</a:t>
            </a:fld>
            <a:endParaRPr sz="1600" b="0"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2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8" name="Google Shape;2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4" name="Google Shape;34;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2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7" name="Google Shape;47;p2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8" name="Google Shape;48;p2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2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6"/>
          <p:cNvSpPr>
            <a:spLocks noGrp="1"/>
          </p:cNvSpPr>
          <p:nvPr>
            <p:ph type="pic" idx="2"/>
          </p:nvPr>
        </p:nvSpPr>
        <p:spPr>
          <a:xfrm>
            <a:off x="1792288" y="612775"/>
            <a:ext cx="5486400" cy="4114800"/>
          </a:xfrm>
          <a:prstGeom prst="rect">
            <a:avLst/>
          </a:prstGeom>
          <a:noFill/>
          <a:ln>
            <a:noFill/>
          </a:ln>
        </p:spPr>
      </p:sp>
      <p:sp>
        <p:nvSpPr>
          <p:cNvPr id="68" name="Google Shape;68;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ieeexplore.ieee.org/abstract/document/9396994/" TargetMode="External"/><Relationship Id="rId3" Type="http://schemas.openxmlformats.org/officeDocument/2006/relationships/hyperlink" Target="https://ieeexplore.ieee.org/abstract/document/8487274/" TargetMode="External"/><Relationship Id="rId7" Type="http://schemas.openxmlformats.org/officeDocument/2006/relationships/hyperlink" Target="https://scholar.google.com/citations?user=5lSpY14AAAAJ&amp;hl=en&amp;oi=sra"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scholar.google.com/citations?user=g1XrPN4AAAAJ&amp;hl=en&amp;oi=sra" TargetMode="External"/><Relationship Id="rId5" Type="http://schemas.openxmlformats.org/officeDocument/2006/relationships/hyperlink" Target="https://www.hindawi.com/journals/jfq/2022/6877520/" TargetMode="External"/><Relationship Id="rId4" Type="http://schemas.openxmlformats.org/officeDocument/2006/relationships/hyperlink" Target="https://link.springer.com/chapter/10.1007/978-981-97-0448-4_16"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scholar.google.com/citations?user=bPz8jOMAAAAJ&amp;hl=en&amp;oi=sra" TargetMode="External"/><Relationship Id="rId3" Type="http://schemas.openxmlformats.org/officeDocument/2006/relationships/hyperlink" Target="https://scholar.google.com/citations?user=4eZqt2sAAAAJ&amp;hl=en&amp;oi=sra" TargetMode="External"/><Relationship Id="rId7" Type="http://schemas.openxmlformats.org/officeDocument/2006/relationships/hyperlink" Target="https://iopscience.iop.org/article/10.1088/1742-6596/1925/1/012033/meta" TargetMode="External"/><Relationship Id="rId2" Type="http://schemas.openxmlformats.org/officeDocument/2006/relationships/hyperlink" Target="https://scholar.google.com/citations?user=Mb8T7mkAAAAJ&amp;hl=en&amp;oi=sra" TargetMode="External"/><Relationship Id="rId1" Type="http://schemas.openxmlformats.org/officeDocument/2006/relationships/slideLayout" Target="../slideLayouts/slideLayout2.xml"/><Relationship Id="rId6" Type="http://schemas.openxmlformats.org/officeDocument/2006/relationships/hyperlink" Target="https://scholar.google.com/citations?user=9jFkexwAAAAJ&amp;hl=en&amp;oi=sra" TargetMode="External"/><Relationship Id="rId5" Type="http://schemas.openxmlformats.org/officeDocument/2006/relationships/hyperlink" Target="https://patents.google.com/patent/US11068916B2/en" TargetMode="External"/><Relationship Id="rId10" Type="http://schemas.openxmlformats.org/officeDocument/2006/relationships/hyperlink" Target="https://www.academia.edu/download/86566701/Paper_12-Comparative_Analysis_of_Supervised_Machine_Learning_Techniques.pdf" TargetMode="External"/><Relationship Id="rId4" Type="http://schemas.openxmlformats.org/officeDocument/2006/relationships/hyperlink" Target="https://ieeexplore.ieee.org/abstract/document/9587668/" TargetMode="External"/><Relationship Id="rId9" Type="http://schemas.openxmlformats.org/officeDocument/2006/relationships/hyperlink" Target="https://www.msijr.msi-ggsip.org/pdf/MSIJAR_VOL03_ISSUE01.pdf#page=26"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scholar.google.com/citations?user=CWsTU7EAAAAJ&amp;hl=en&amp;oi=sra" TargetMode="External"/><Relationship Id="rId2" Type="http://schemas.openxmlformats.org/officeDocument/2006/relationships/hyperlink" Target="https://scholar.google.com/citations?user=gJTgLxQAAAAJ&amp;hl=en&amp;oi=sra" TargetMode="External"/><Relationship Id="rId1" Type="http://schemas.openxmlformats.org/officeDocument/2006/relationships/slideLayout" Target="../slideLayouts/slideLayout2.xml"/><Relationship Id="rId5" Type="http://schemas.openxmlformats.org/officeDocument/2006/relationships/hyperlink" Target="https://ieeexplore.ieee.org/abstract/document/8675060/" TargetMode="External"/><Relationship Id="rId4" Type="http://schemas.openxmlformats.org/officeDocument/2006/relationships/hyperlink" Target="https://ieeexplore.ieee.org/abstract/document/9067927/"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
          <p:cNvGrpSpPr/>
          <p:nvPr/>
        </p:nvGrpSpPr>
        <p:grpSpPr>
          <a:xfrm>
            <a:off x="-14748" y="986564"/>
            <a:ext cx="9158748" cy="5257095"/>
            <a:chOff x="-14748" y="986564"/>
            <a:chExt cx="9158748" cy="5257095"/>
          </a:xfrm>
        </p:grpSpPr>
        <p:sp>
          <p:nvSpPr>
            <p:cNvPr id="90" name="Google Shape;90;p1"/>
            <p:cNvSpPr txBox="1"/>
            <p:nvPr/>
          </p:nvSpPr>
          <p:spPr>
            <a:xfrm>
              <a:off x="114244" y="4920260"/>
              <a:ext cx="4322209" cy="13233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Team Members:</a:t>
              </a:r>
              <a:br>
                <a:rPr lang="en-US" sz="20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br>
              <a:r>
                <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1. </a:t>
              </a: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VIMAL</a:t>
              </a:r>
              <a:r>
                <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KB (</a:t>
              </a: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210701309</a:t>
              </a:r>
              <a:r>
                <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t>
              </a:r>
              <a:endParaRPr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2000"/>
                <a:buFont typeface="Arial"/>
                <a:buNone/>
              </a:pPr>
              <a:r>
                <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2. </a:t>
              </a: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SRI SAI B(210701258)</a:t>
              </a:r>
              <a:endParaRPr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Calibri"/>
                  <a:ea typeface="Calibri"/>
                  <a:cs typeface="Calibri"/>
                  <a:sym typeface="Calibri"/>
                </a:rPr>
                <a:t> </a:t>
              </a:r>
              <a:endParaRPr dirty="0"/>
            </a:p>
          </p:txBody>
        </p:sp>
        <p:grpSp>
          <p:nvGrpSpPr>
            <p:cNvPr id="91" name="Google Shape;91;p1"/>
            <p:cNvGrpSpPr/>
            <p:nvPr/>
          </p:nvGrpSpPr>
          <p:grpSpPr>
            <a:xfrm>
              <a:off x="-14748" y="986564"/>
              <a:ext cx="9158748" cy="3628907"/>
              <a:chOff x="-14748" y="986564"/>
              <a:chExt cx="9158748" cy="3628907"/>
            </a:xfrm>
          </p:grpSpPr>
          <p:sp>
            <p:nvSpPr>
              <p:cNvPr id="92" name="Google Shape;92;p1"/>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3" name="Google Shape;93;p1"/>
              <p:cNvSpPr/>
              <p:nvPr/>
            </p:nvSpPr>
            <p:spPr>
              <a:xfrm>
                <a:off x="0" y="1529371"/>
                <a:ext cx="5744100"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94" name="Google Shape;94;p1"/>
              <p:cNvGrpSpPr/>
              <p:nvPr/>
            </p:nvGrpSpPr>
            <p:grpSpPr>
              <a:xfrm>
                <a:off x="-14748" y="986564"/>
                <a:ext cx="4014973" cy="1075928"/>
                <a:chOff x="-19391" y="1011603"/>
                <a:chExt cx="5278947" cy="1075928"/>
              </a:xfrm>
            </p:grpSpPr>
            <p:sp>
              <p:nvSpPr>
                <p:cNvPr id="95" name="Google Shape;95;p1"/>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6" name="Google Shape;96;p1"/>
                <p:cNvSpPr txBox="1"/>
                <p:nvPr/>
              </p:nvSpPr>
              <p:spPr>
                <a:xfrm>
                  <a:off x="269111" y="1173241"/>
                  <a:ext cx="4322700" cy="70784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Calibri"/>
                      <a:ea typeface="Calibri"/>
                      <a:cs typeface="Calibri"/>
                      <a:sym typeface="Calibri"/>
                    </a:rPr>
                    <a:t>Fundamentals of Machine Learning </a:t>
                  </a:r>
                  <a:endParaRPr sz="2000" b="1" i="0" u="none" strike="noStrike" cap="none" dirty="0">
                    <a:solidFill>
                      <a:schemeClr val="lt1"/>
                    </a:solidFill>
                    <a:latin typeface="Calibri"/>
                    <a:ea typeface="Calibri"/>
                    <a:cs typeface="Calibri"/>
                    <a:sym typeface="Calibri"/>
                  </a:endParaRPr>
                </a:p>
              </p:txBody>
            </p:sp>
          </p:grpSp>
          <p:sp>
            <p:nvSpPr>
              <p:cNvPr id="97" name="Google Shape;97;p1"/>
              <p:cNvSpPr txBox="1"/>
              <p:nvPr/>
            </p:nvSpPr>
            <p:spPr>
              <a:xfrm>
                <a:off x="114244" y="2259126"/>
                <a:ext cx="4775734" cy="20620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3200" b="1" i="0" u="none" strike="noStrike" cap="none" dirty="0">
                    <a:solidFill>
                      <a:schemeClr val="lt1"/>
                    </a:solidFill>
                    <a:latin typeface="Calibri"/>
                    <a:ea typeface="Calibri"/>
                    <a:cs typeface="Calibri"/>
                    <a:sym typeface="Calibri"/>
                  </a:rPr>
                  <a:t>PREDICTI</a:t>
                </a:r>
                <a:r>
                  <a:rPr lang="en-US" sz="3200" b="1" dirty="0">
                    <a:solidFill>
                      <a:schemeClr val="lt1"/>
                    </a:solidFill>
                    <a:latin typeface="Calibri"/>
                    <a:ea typeface="Calibri"/>
                    <a:cs typeface="Calibri"/>
                    <a:sym typeface="Calibri"/>
                  </a:rPr>
                  <a:t>NG SALES OF  MARKETPLACE USING XG BOOST ALGORITHM BASED ON PRODUCT SALES</a:t>
                </a:r>
                <a:endParaRPr sz="3200" b="0" i="0" u="none" strike="noStrike" cap="none" dirty="0">
                  <a:solidFill>
                    <a:srgbClr val="000000"/>
                  </a:solidFill>
                  <a:latin typeface="Arial"/>
                  <a:ea typeface="Arial"/>
                  <a:cs typeface="Arial"/>
                  <a:sym typeface="Arial"/>
                </a:endParaRPr>
              </a:p>
            </p:txBody>
          </p:sp>
          <p:sp>
            <p:nvSpPr>
              <p:cNvPr id="98" name="Google Shape;98;p1"/>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pic>
        <p:nvPicPr>
          <p:cNvPr id="99" name="Google Shape;99;p1"/>
          <p:cNvPicPr preferRelativeResize="0"/>
          <p:nvPr/>
        </p:nvPicPr>
        <p:blipFill rotWithShape="1">
          <a:blip r:embed="rId4">
            <a:alphaModFix/>
          </a:blip>
          <a:srcRect/>
          <a:stretch/>
        </p:blipFill>
        <p:spPr>
          <a:xfrm>
            <a:off x="6437825" y="1934150"/>
            <a:ext cx="2648175" cy="2250950"/>
          </a:xfrm>
          <a:prstGeom prst="rect">
            <a:avLst/>
          </a:prstGeom>
          <a:noFill/>
          <a:ln>
            <a:noFill/>
          </a:ln>
        </p:spPr>
      </p:pic>
      <p:sp>
        <p:nvSpPr>
          <p:cNvPr id="2" name="Google Shape;90;p1">
            <a:extLst>
              <a:ext uri="{FF2B5EF4-FFF2-40B4-BE49-F238E27FC236}">
                <a16:creationId xmlns:a16="http://schemas.microsoft.com/office/drawing/2014/main" id="{FED7E851-A546-1DA8-53C5-829ADF2AF0F1}"/>
              </a:ext>
            </a:extLst>
          </p:cNvPr>
          <p:cNvSpPr txBox="1"/>
          <p:nvPr/>
        </p:nvSpPr>
        <p:spPr>
          <a:xfrm>
            <a:off x="4436453" y="4890037"/>
            <a:ext cx="4322209" cy="16003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IN" sz="1800" b="1" i="0" u="none" strike="noStrike" dirty="0">
                <a:solidFill>
                  <a:srgbClr val="000000"/>
                </a:solidFill>
                <a:effectLst/>
                <a:latin typeface="Times New Roman" panose="02020603050405020304" pitchFamily="18" charset="0"/>
              </a:rPr>
              <a:t>PROJECT CO-ORDINATOR: </a:t>
            </a:r>
          </a:p>
          <a:p>
            <a:pPr marL="0" marR="0" lvl="0" indent="0" algn="l" rtl="0">
              <a:lnSpc>
                <a:spcPct val="100000"/>
              </a:lnSpc>
              <a:spcBef>
                <a:spcPts val="0"/>
              </a:spcBef>
              <a:spcAft>
                <a:spcPts val="0"/>
              </a:spcAft>
              <a:buClr>
                <a:srgbClr val="000000"/>
              </a:buClr>
              <a:buSzPts val="2000"/>
              <a:buFont typeface="Arial"/>
              <a:buNone/>
            </a:pPr>
            <a:r>
              <a:rPr lang="en-IN" sz="2000" i="0" u="none" strike="noStrike" dirty="0">
                <a:solidFill>
                  <a:srgbClr val="000000"/>
                </a:solidFill>
                <a:effectLst/>
                <a:latin typeface="Times New Roman" panose="02020603050405020304" pitchFamily="18" charset="0"/>
                <a:cs typeface="Times New Roman" panose="02020603050405020304" pitchFamily="18" charset="0"/>
              </a:rPr>
              <a:t>V Karthick</a:t>
            </a:r>
          </a:p>
          <a:p>
            <a:pPr marL="0" marR="0" lvl="0" indent="0" algn="l" rtl="0">
              <a:lnSpc>
                <a:spcPct val="100000"/>
              </a:lnSpc>
              <a:spcBef>
                <a:spcPts val="0"/>
              </a:spcBef>
              <a:spcAft>
                <a:spcPts val="0"/>
              </a:spcAft>
              <a:buClr>
                <a:srgbClr val="000000"/>
              </a:buClr>
              <a:buSzPts val="2000"/>
              <a:buFont typeface="Arial"/>
              <a:buNone/>
            </a:pPr>
            <a:r>
              <a:rPr lang="en-IN" sz="2000" i="0" u="none" strike="noStrike" dirty="0">
                <a:solidFill>
                  <a:srgbClr val="000000"/>
                </a:solidFill>
                <a:effectLst/>
                <a:latin typeface="Times New Roman" panose="02020603050405020304" pitchFamily="18" charset="0"/>
                <a:cs typeface="Times New Roman" panose="02020603050405020304" pitchFamily="18" charset="0"/>
              </a:rPr>
              <a:t>Associate Professor</a:t>
            </a:r>
            <a:r>
              <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p>
          <a:p>
            <a:pPr marL="0" marR="0" lvl="0" indent="0" algn="l" rtl="0">
              <a:lnSpc>
                <a:spcPct val="100000"/>
              </a:lnSpc>
              <a:spcBef>
                <a:spcPts val="0"/>
              </a:spcBef>
              <a:spcAft>
                <a:spcPts val="0"/>
              </a:spcAft>
              <a:buClr>
                <a:srgbClr val="000000"/>
              </a:buClr>
              <a:buSzPts val="2000"/>
              <a:buFont typeface="Arial"/>
              <a:buNone/>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Department of CSE</a:t>
            </a:r>
            <a:endPar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2000"/>
              <a:buFont typeface="Arial"/>
              <a:buNone/>
            </a:pPr>
            <a:r>
              <a:rPr lang="en-IN" sz="2000" dirty="0">
                <a:latin typeface="Times New Roman" panose="02020603050405020304" pitchFamily="18" charset="0"/>
                <a:cs typeface="Times New Roman" panose="02020603050405020304" pitchFamily="18" charset="0"/>
              </a:rPr>
              <a:t>Rajalakshmi Engineering college</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sym typeface="Calibri"/>
              </a:rPr>
              <a:t>AGENDA</a:t>
            </a:r>
            <a:endParaRPr b="1" dirty="0">
              <a:latin typeface="Times New Roman" panose="02020603050405020304" pitchFamily="18" charset="0"/>
              <a:cs typeface="Times New Roman" panose="02020603050405020304" pitchFamily="18" charset="0"/>
              <a:sym typeface="Calibri"/>
            </a:endParaRPr>
          </a:p>
        </p:txBody>
      </p:sp>
      <p:sp>
        <p:nvSpPr>
          <p:cNvPr id="106" name="Google Shape;106;p2"/>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a:ea typeface="Times New Roman"/>
                <a:cs typeface="Times New Roman"/>
                <a:sym typeface="Times New Roman"/>
              </a:rPr>
              <a:t> ABSTRACT</a:t>
            </a:r>
          </a:p>
          <a:p>
            <a:pPr marL="342900" lvl="0" indent="-342900" algn="l" rtl="0">
              <a:lnSpc>
                <a:spcPct val="114000"/>
              </a:lnSpc>
              <a:spcBef>
                <a:spcPts val="0"/>
              </a:spcBef>
              <a:spcAft>
                <a:spcPts val="0"/>
              </a:spcAft>
              <a:buClr>
                <a:schemeClr val="dk1"/>
              </a:buClr>
              <a:buSzPts val="2400"/>
              <a:buFont typeface="Noto Sans Symbols"/>
              <a:buChar char="⮚"/>
            </a:pPr>
            <a:r>
              <a:rPr lang="en-IN" dirty="0">
                <a:latin typeface="Times New Roman"/>
                <a:ea typeface="Times New Roman"/>
                <a:cs typeface="Times New Roman"/>
                <a:sym typeface="Times New Roman"/>
              </a:rPr>
              <a:t> INTRODUCTION</a:t>
            </a:r>
          </a:p>
          <a:p>
            <a:pPr marL="342900" indent="-342900">
              <a:spcBef>
                <a:spcPts val="0"/>
              </a:spcBef>
              <a:buFont typeface="Noto Sans Symbols"/>
              <a:buChar char="⮚"/>
            </a:pPr>
            <a:r>
              <a:rPr lang="en-IN" dirty="0">
                <a:latin typeface="Times New Roman"/>
                <a:ea typeface="Times New Roman"/>
                <a:cs typeface="Times New Roman"/>
                <a:sym typeface="Times New Roman"/>
              </a:rPr>
              <a:t> </a:t>
            </a:r>
            <a:r>
              <a:rPr lang="en-US" dirty="0">
                <a:latin typeface="Times New Roman"/>
                <a:ea typeface="Times New Roman"/>
                <a:cs typeface="Times New Roman"/>
                <a:sym typeface="Times New Roman"/>
              </a:rPr>
              <a:t>LITERATURE SURVEY</a:t>
            </a:r>
            <a:endParaRPr lang="en-US" dirty="0"/>
          </a:p>
          <a:p>
            <a:pPr marL="457200" lvl="0" indent="-381000" algn="l" rtl="0">
              <a:spcBef>
                <a:spcPts val="0"/>
              </a:spcBef>
              <a:spcAft>
                <a:spcPts val="0"/>
              </a:spcAft>
              <a:buSzPts val="2400"/>
              <a:buFont typeface="Times New Roman"/>
              <a:buChar char="⮚"/>
            </a:pPr>
            <a:r>
              <a:rPr lang="en-US" dirty="0">
                <a:latin typeface="Times New Roman"/>
                <a:ea typeface="Times New Roman"/>
                <a:cs typeface="Times New Roman"/>
                <a:sym typeface="Times New Roman"/>
              </a:rPr>
              <a:t>EXISTING SYSTEM</a:t>
            </a:r>
            <a:endParaRPr dirty="0">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US" dirty="0">
                <a:latin typeface="Times New Roman"/>
                <a:ea typeface="Times New Roman"/>
                <a:cs typeface="Times New Roman"/>
                <a:sym typeface="Times New Roman"/>
              </a:rPr>
              <a:t>PROPOSED SYSTEM</a:t>
            </a:r>
            <a:endParaRPr dirty="0">
              <a:latin typeface="Times New Roman"/>
              <a:ea typeface="Times New Roman"/>
              <a:cs typeface="Times New Roman"/>
              <a:sym typeface="Times New Roman"/>
            </a:endParaRPr>
          </a:p>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a:ea typeface="Times New Roman"/>
                <a:cs typeface="Times New Roman"/>
                <a:sym typeface="Times New Roman"/>
              </a:rPr>
              <a:t> PROPOSED METHODOLOGY</a:t>
            </a:r>
            <a:endParaRPr dirty="0">
              <a:latin typeface="Times New Roman"/>
              <a:ea typeface="Times New Roman"/>
              <a:cs typeface="Times New Roman"/>
              <a:sym typeface="Times New Roman"/>
            </a:endParaRPr>
          </a:p>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a:cs typeface="Times New Roman"/>
                <a:sym typeface="Times New Roman"/>
              </a:rPr>
              <a:t>RESULTS AND DISCUSSION</a:t>
            </a:r>
          </a:p>
          <a:p>
            <a:pPr marL="342900" lvl="0" indent="-342900" algn="l" rtl="0">
              <a:lnSpc>
                <a:spcPct val="114000"/>
              </a:lnSpc>
              <a:spcBef>
                <a:spcPts val="0"/>
              </a:spcBef>
              <a:spcAft>
                <a:spcPts val="0"/>
              </a:spcAft>
              <a:buClr>
                <a:schemeClr val="dk1"/>
              </a:buClr>
              <a:buSzPts val="2400"/>
              <a:buFont typeface="Noto Sans Symbols"/>
              <a:buChar char="⮚"/>
            </a:pPr>
            <a:r>
              <a:rPr lang="en-IN" dirty="0"/>
              <a:t> </a:t>
            </a:r>
            <a:r>
              <a:rPr lang="en-IN" dirty="0">
                <a:latin typeface="Times New Roman" panose="02020603050405020304" pitchFamily="18" charset="0"/>
                <a:cs typeface="Times New Roman" panose="02020603050405020304" pitchFamily="18" charset="0"/>
              </a:rPr>
              <a:t>OUTPUT</a:t>
            </a:r>
            <a:endParaRPr dirty="0"/>
          </a:p>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a:ea typeface="Times New Roman"/>
                <a:cs typeface="Times New Roman"/>
                <a:sym typeface="Times New Roman"/>
              </a:rPr>
              <a:t> CONCLUSION AND FUTURE ENHANCEMENTS</a:t>
            </a:r>
            <a:endParaRPr dirty="0"/>
          </a:p>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a:ea typeface="Times New Roman"/>
                <a:cs typeface="Times New Roman"/>
                <a:sym typeface="Times New Roman"/>
              </a:rPr>
              <a:t> REFERENCES</a:t>
            </a:r>
            <a:endParaRPr dirty="0"/>
          </a:p>
          <a:p>
            <a:pPr marL="342900" lvl="0" indent="-190500" algn="l" rtl="0">
              <a:lnSpc>
                <a:spcPct val="114000"/>
              </a:lnSpc>
              <a:spcBef>
                <a:spcPts val="0"/>
              </a:spcBef>
              <a:spcAft>
                <a:spcPts val="0"/>
              </a:spcAft>
              <a:buClr>
                <a:schemeClr val="dk1"/>
              </a:buClr>
              <a:buSzPts val="2400"/>
              <a:buFont typeface="Noto Sans Symbols"/>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txBox="1">
            <a:spLocks noGrp="1"/>
          </p:cNvSpPr>
          <p:nvPr>
            <p:ph type="title"/>
          </p:nvPr>
        </p:nvSpPr>
        <p:spPr>
          <a:xfrm>
            <a:off x="190500" y="106375"/>
            <a:ext cx="8763000" cy="7107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chemeClr val="dk1"/>
              </a:buClr>
              <a:buSzPct val="100000"/>
              <a:buFont typeface="Calibri"/>
              <a:buNone/>
            </a:pPr>
            <a:r>
              <a:rPr lang="en-US" b="1">
                <a:latin typeface="Times New Roman"/>
                <a:ea typeface="Times New Roman"/>
                <a:cs typeface="Times New Roman"/>
                <a:sym typeface="Times New Roman"/>
              </a:rPr>
              <a:t>ABSTRACT</a:t>
            </a:r>
            <a:endParaRPr b="1">
              <a:latin typeface="Times New Roman"/>
              <a:ea typeface="Times New Roman"/>
              <a:cs typeface="Times New Roman"/>
              <a:sym typeface="Times New Roman"/>
            </a:endParaRPr>
          </a:p>
        </p:txBody>
      </p:sp>
      <p:sp>
        <p:nvSpPr>
          <p:cNvPr id="113" name="Google Shape;113;p3"/>
          <p:cNvSpPr txBox="1">
            <a:spLocks noGrp="1"/>
          </p:cNvSpPr>
          <p:nvPr>
            <p:ph type="body" idx="1"/>
          </p:nvPr>
        </p:nvSpPr>
        <p:spPr>
          <a:xfrm>
            <a:off x="190500" y="912075"/>
            <a:ext cx="8568000" cy="5292000"/>
          </a:xfrm>
          <a:prstGeom prst="rect">
            <a:avLst/>
          </a:prstGeom>
          <a:noFill/>
          <a:ln>
            <a:noFill/>
          </a:ln>
        </p:spPr>
        <p:txBody>
          <a:bodyPr spcFirstLastPara="1" wrap="square" lIns="91425" tIns="45700" rIns="91425" bIns="45700" anchor="t" anchorCtr="0">
            <a:noAutofit/>
          </a:bodyPr>
          <a:lstStyle/>
          <a:p>
            <a:pPr marL="0" marR="314325" indent="0" algn="just">
              <a:lnSpc>
                <a:spcPct val="115000"/>
              </a:lnSpc>
              <a:spcBef>
                <a:spcPts val="0"/>
              </a:spcBef>
              <a:buSzPts val="1100"/>
              <a:buNone/>
            </a:pPr>
            <a:r>
              <a:rPr lang="en-US" sz="2100" dirty="0">
                <a:solidFill>
                  <a:srgbClr val="0D0D0D"/>
                </a:solidFill>
                <a:highlight>
                  <a:srgbClr val="FFFFFF"/>
                </a:highlight>
                <a:latin typeface="Times New Roman"/>
                <a:ea typeface="Times New Roman"/>
                <a:cs typeface="Times New Roman"/>
                <a:sym typeface="Times New Roman"/>
              </a:rPr>
              <a:t>         </a:t>
            </a:r>
          </a:p>
          <a:p>
            <a:pPr marL="0" marR="314325" indent="0" algn="just">
              <a:lnSpc>
                <a:spcPct val="100000"/>
              </a:lnSpc>
              <a:spcBef>
                <a:spcPts val="0"/>
              </a:spcBef>
              <a:buSzPts val="1100"/>
              <a:buNone/>
            </a:pPr>
            <a:r>
              <a:rPr lang="en-US" sz="1800" dirty="0">
                <a:solidFill>
                  <a:srgbClr val="0D0D0D"/>
                </a:solidFill>
                <a:effectLst/>
                <a:highlight>
                  <a:srgbClr val="FFFFFF"/>
                </a:highlight>
                <a:latin typeface="Times New Roman"/>
                <a:ea typeface="Times New Roman" panose="02020603050405020304" pitchFamily="18" charset="0"/>
                <a:cs typeface="Times New Roman"/>
                <a:sym typeface="Times New Roman"/>
              </a:rPr>
              <a:t>          </a:t>
            </a:r>
            <a:r>
              <a:rPr lang="en-US" sz="2000" dirty="0">
                <a:solidFill>
                  <a:srgbClr val="000000"/>
                </a:solidFill>
                <a:effectLst/>
                <a:latin typeface="Times New Roman" panose="02020603050405020304" pitchFamily="18" charset="0"/>
                <a:ea typeface="Times New Roman" panose="02020603050405020304" pitchFamily="18" charset="0"/>
              </a:rPr>
              <a:t>In today’s business environment, it is difficult to predict the future sales of a product. It is a big task in the business world.</a:t>
            </a:r>
            <a:r>
              <a:rPr lang="en-IN" sz="2000" dirty="0">
                <a:effectLst/>
                <a:latin typeface="Times New Roman" panose="02020603050405020304" pitchFamily="18" charset="0"/>
                <a:ea typeface="Times New Roman" panose="02020603050405020304" pitchFamily="18" charset="0"/>
              </a:rPr>
              <a:t> In our proposed system it discusses the prediction model that will be able to predict sales of a particular product in the market with the help of numerous dataset. This research was for drawing better-required accuracy from the model compared to the previous models. In this project, we propose a model using the </a:t>
            </a:r>
            <a:r>
              <a:rPr lang="en-IN" sz="2000" dirty="0" err="1">
                <a:effectLst/>
                <a:latin typeface="Times New Roman" panose="02020603050405020304" pitchFamily="18" charset="0"/>
                <a:ea typeface="Times New Roman" panose="02020603050405020304" pitchFamily="18" charset="0"/>
              </a:rPr>
              <a:t>Xgboost</a:t>
            </a:r>
            <a:r>
              <a:rPr lang="en-IN" sz="2000" dirty="0">
                <a:effectLst/>
                <a:latin typeface="Times New Roman" panose="02020603050405020304" pitchFamily="18" charset="0"/>
                <a:ea typeface="Times New Roman" panose="02020603050405020304" pitchFamily="18" charset="0"/>
              </a:rPr>
              <a:t> algorithm for predicting sales of companies and found that it produces better performance and accuracy compared to existing model. </a:t>
            </a:r>
          </a:p>
          <a:p>
            <a:pPr indent="0" algn="just" rtl="0">
              <a:spcBef>
                <a:spcPts val="0"/>
              </a:spcBef>
              <a:spcAft>
                <a:spcPts val="0"/>
              </a:spcAft>
              <a:buNone/>
            </a:pPr>
            <a:endParaRPr lang="en-IN" sz="2000" b="0" i="0" u="none" strike="noStrike" dirty="0">
              <a:solidFill>
                <a:srgbClr val="000000"/>
              </a:solidFill>
              <a:effectLst/>
              <a:latin typeface="Times New Roman" panose="02020603050405020304" pitchFamily="18" charset="0"/>
            </a:endParaRPr>
          </a:p>
          <a:p>
            <a:pPr indent="0" algn="just" rtl="0">
              <a:spcBef>
                <a:spcPts val="0"/>
              </a:spcBef>
              <a:spcAft>
                <a:spcPts val="0"/>
              </a:spcAft>
              <a:buNone/>
            </a:pPr>
            <a:endParaRPr lang="en-IN" sz="2000" dirty="0">
              <a:solidFill>
                <a:srgbClr val="000000"/>
              </a:solidFill>
              <a:latin typeface="Times New Roman" panose="02020603050405020304" pitchFamily="18" charset="0"/>
            </a:endParaRPr>
          </a:p>
          <a:p>
            <a:pPr indent="0" algn="just" rtl="0">
              <a:spcBef>
                <a:spcPts val="0"/>
              </a:spcBef>
              <a:spcAft>
                <a:spcPts val="0"/>
              </a:spcAft>
              <a:buNone/>
            </a:pPr>
            <a:r>
              <a:rPr lang="en-IN" sz="2000" b="0" i="0" u="none" strike="noStrike" dirty="0">
                <a:solidFill>
                  <a:srgbClr val="000000"/>
                </a:solidFill>
                <a:effectLst/>
                <a:latin typeface="Times New Roman" panose="02020603050405020304" pitchFamily="18" charset="0"/>
              </a:rPr>
              <a:t> </a:t>
            </a:r>
            <a:endParaRPr lang="en-IN" sz="2000" b="0" dirty="0">
              <a:effectLst/>
            </a:endParaRPr>
          </a:p>
          <a:p>
            <a:pPr marL="76200" indent="0" algn="just" rtl="0">
              <a:spcBef>
                <a:spcPts val="0"/>
              </a:spcBef>
              <a:spcAft>
                <a:spcPts val="0"/>
              </a:spcAft>
              <a:buNone/>
            </a:pPr>
            <a:r>
              <a:rPr lang="en-IN" sz="2000" b="1" i="0" u="none" strike="noStrike" dirty="0">
                <a:solidFill>
                  <a:srgbClr val="000000"/>
                </a:solidFill>
                <a:effectLst/>
                <a:latin typeface="Times New Roman" panose="02020603050405020304" pitchFamily="18" charset="0"/>
              </a:rPr>
              <a:t>Keywords: </a:t>
            </a:r>
            <a:r>
              <a:rPr lang="en-IN" sz="2000" i="0" u="none" strike="noStrike" dirty="0">
                <a:solidFill>
                  <a:srgbClr val="000000"/>
                </a:solidFill>
                <a:effectLst/>
                <a:latin typeface="Times New Roman" panose="02020603050405020304" pitchFamily="18" charset="0"/>
              </a:rPr>
              <a:t>Marketplace, sales, Linear Regression, Random forest Algorithm, </a:t>
            </a:r>
            <a:r>
              <a:rPr lang="en-IN" sz="2000" i="0" u="none" strike="noStrike" dirty="0" err="1">
                <a:solidFill>
                  <a:srgbClr val="000000"/>
                </a:solidFill>
                <a:effectLst/>
                <a:latin typeface="Times New Roman" panose="02020603050405020304" pitchFamily="18" charset="0"/>
              </a:rPr>
              <a:t>XGboost</a:t>
            </a:r>
            <a:r>
              <a:rPr lang="en-IN" sz="2000" i="0" u="none" strike="noStrike" dirty="0">
                <a:solidFill>
                  <a:srgbClr val="000000"/>
                </a:solidFill>
                <a:effectLst/>
                <a:latin typeface="Times New Roman" panose="02020603050405020304" pitchFamily="18" charset="0"/>
              </a:rPr>
              <a:t> Algorithm, Outlet price.</a:t>
            </a:r>
            <a:endParaRPr lang="en-IN" sz="2000" dirty="0">
              <a:effectLst/>
            </a:endParaRPr>
          </a:p>
          <a:p>
            <a:pPr marL="76200" indent="0">
              <a:buNone/>
            </a:pPr>
            <a:br>
              <a:rPr lang="en-IN" sz="1400" dirty="0"/>
            </a:br>
            <a:endParaRPr lang="en-IN" sz="1800" dirty="0">
              <a:effectLst/>
              <a:latin typeface="Times New Roman" panose="02020603050405020304" pitchFamily="18" charset="0"/>
              <a:ea typeface="Times New Roman" panose="02020603050405020304" pitchFamily="18" charset="0"/>
            </a:endParaRPr>
          </a:p>
          <a:p>
            <a:pPr marL="0" marR="314325" lvl="0" indent="0" algn="just" rtl="0">
              <a:lnSpc>
                <a:spcPct val="115000"/>
              </a:lnSpc>
              <a:spcBef>
                <a:spcPts val="0"/>
              </a:spcBef>
              <a:spcAft>
                <a:spcPts val="0"/>
              </a:spcAft>
              <a:buClr>
                <a:schemeClr val="dk1"/>
              </a:buClr>
              <a:buSzPts val="1100"/>
              <a:buFont typeface="Arial"/>
              <a:buNone/>
            </a:pPr>
            <a:endParaRPr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18F53-6ECF-52A9-5997-D3A27F0A9A7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6B9EE64-B52B-C0A0-F03A-CCC74618C0A7}"/>
              </a:ext>
            </a:extLst>
          </p:cNvPr>
          <p:cNvSpPr>
            <a:spLocks noGrp="1"/>
          </p:cNvSpPr>
          <p:nvPr>
            <p:ph type="body" idx="1"/>
          </p:nvPr>
        </p:nvSpPr>
        <p:spPr/>
        <p:txBody>
          <a:bodyPr/>
          <a:lstStyle/>
          <a:p>
            <a:pPr marL="76200" indent="0" algn="just">
              <a:buNone/>
            </a:pPr>
            <a:r>
              <a:rPr lang="en-IN" sz="2000" dirty="0">
                <a:solidFill>
                  <a:srgbClr val="000000"/>
                </a:solidFill>
                <a:effectLst/>
                <a:latin typeface="Times New Roman" panose="02020603050405020304" pitchFamily="18" charset="0"/>
                <a:ea typeface="Times New Roman" panose="02020603050405020304" pitchFamily="18" charset="0"/>
              </a:rPr>
              <a:t>In today’s business environment, it is difficult to predict the future sales of a product. It is a big task in the business world. Machine learning is the trending technology in the world right now, it works with numerous data sets. Retailers can predict sales with the help of these datasets available. The dataset contains the previous sales information over some time. This research focuses on leveraging machine learning techniques to predict sales trends and optimize their strategies accordingly. Marketplace offers all kinds of products to customers in a wide range. It is a big task to efficiently maintain and manage their inventory and get the right product to their inventory which customers like to buy more.</a:t>
            </a:r>
            <a:endParaRPr lang="en-IN" sz="2000" dirty="0">
              <a:effectLst/>
              <a:latin typeface="Times New Roman" panose="02020603050405020304" pitchFamily="18" charset="0"/>
              <a:ea typeface="Times New Roman" panose="02020603050405020304" pitchFamily="18" charset="0"/>
            </a:endParaRPr>
          </a:p>
          <a:p>
            <a:pPr marL="76200" indent="0">
              <a:buNone/>
            </a:pPr>
            <a:endParaRPr lang="en-IN" dirty="0"/>
          </a:p>
        </p:txBody>
      </p:sp>
    </p:spTree>
    <p:extLst>
      <p:ext uri="{BB962C8B-B14F-4D97-AF65-F5344CB8AC3E}">
        <p14:creationId xmlns:p14="http://schemas.microsoft.com/office/powerpoint/2010/main" val="3458242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sym typeface="Calibri"/>
              </a:rPr>
              <a:t>LITERATURE SURVEY</a:t>
            </a:r>
            <a:endParaRPr b="1" dirty="0">
              <a:latin typeface="Times New Roman" panose="02020603050405020304" pitchFamily="18" charset="0"/>
              <a:cs typeface="Times New Roman" panose="02020603050405020304" pitchFamily="18" charset="0"/>
              <a:sym typeface="Calibri"/>
            </a:endParaRPr>
          </a:p>
        </p:txBody>
      </p:sp>
      <p:graphicFrame>
        <p:nvGraphicFramePr>
          <p:cNvPr id="155" name="Google Shape;155;p6"/>
          <p:cNvGraphicFramePr/>
          <p:nvPr>
            <p:extLst>
              <p:ext uri="{D42A27DB-BD31-4B8C-83A1-F6EECF244321}">
                <p14:modId xmlns:p14="http://schemas.microsoft.com/office/powerpoint/2010/main" val="1796994241"/>
              </p:ext>
            </p:extLst>
          </p:nvPr>
        </p:nvGraphicFramePr>
        <p:xfrm>
          <a:off x="487300" y="1022125"/>
          <a:ext cx="8184425" cy="4639450"/>
        </p:xfrm>
        <a:graphic>
          <a:graphicData uri="http://schemas.openxmlformats.org/drawingml/2006/table">
            <a:tbl>
              <a:tblPr>
                <a:noFill/>
                <a:tableStyleId>{9B2FBFC6-B900-4C24-9E69-20D259D9EA4D}</a:tableStyleId>
              </a:tblPr>
              <a:tblGrid>
                <a:gridCol w="834325">
                  <a:extLst>
                    <a:ext uri="{9D8B030D-6E8A-4147-A177-3AD203B41FA5}">
                      <a16:colId xmlns:a16="http://schemas.microsoft.com/office/drawing/2014/main" val="20000"/>
                    </a:ext>
                  </a:extLst>
                </a:gridCol>
                <a:gridCol w="3145325">
                  <a:extLst>
                    <a:ext uri="{9D8B030D-6E8A-4147-A177-3AD203B41FA5}">
                      <a16:colId xmlns:a16="http://schemas.microsoft.com/office/drawing/2014/main" val="20001"/>
                    </a:ext>
                  </a:extLst>
                </a:gridCol>
                <a:gridCol w="2890225">
                  <a:extLst>
                    <a:ext uri="{9D8B030D-6E8A-4147-A177-3AD203B41FA5}">
                      <a16:colId xmlns:a16="http://schemas.microsoft.com/office/drawing/2014/main" val="20002"/>
                    </a:ext>
                  </a:extLst>
                </a:gridCol>
                <a:gridCol w="13145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SI.NO</a:t>
                      </a:r>
                      <a:endParaRPr b="1" dirty="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NAME OF THE PAPER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AUTHOR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YEAR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a:t>1.</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marR="0" lvl="0" indent="0" algn="just" defTabSz="914400" rtl="0" eaLnBrk="1" fontAlgn="auto" latinLnBrk="0" hangingPunct="1">
                        <a:lnSpc>
                          <a:spcPct val="150000"/>
                        </a:lnSpc>
                        <a:spcBef>
                          <a:spcPts val="0"/>
                        </a:spcBef>
                        <a:spcAft>
                          <a:spcPts val="1560"/>
                        </a:spcAft>
                        <a:buClr>
                          <a:srgbClr val="000000"/>
                        </a:buClr>
                        <a:buSzTx/>
                        <a:buFont typeface="Arial"/>
                        <a:buNone/>
                        <a:tabLst/>
                        <a:defRPr/>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Walmart's Sales Data Analysis Big Data Analytics Perspective.</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None/>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M. Singh, B. </a:t>
                      </a:r>
                      <a:r>
                        <a:rPr lang="en-US" sz="14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Ghutla</a:t>
                      </a: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R. Lilo Jnr, A. F. S. Mohammed, and M. A. Rashid</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t>2022</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64397">
                <a:tc>
                  <a:txBody>
                    <a:bodyPr/>
                    <a:lstStyle/>
                    <a:p>
                      <a:pPr marL="0" lvl="0" indent="0" algn="l" rtl="0">
                        <a:spcBef>
                          <a:spcPts val="0"/>
                        </a:spcBef>
                        <a:spcAft>
                          <a:spcPts val="0"/>
                        </a:spcAft>
                        <a:buNone/>
                      </a:pPr>
                      <a:r>
                        <a:rPr lang="en-US"/>
                        <a:t>2.</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Location-Based Crime Prediction Using Multiclass Classification Data Mining Techniques</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V Upadhyay, D Rathod</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dirty="0">
                          <a:solidFill>
                            <a:schemeClr val="dk1"/>
                          </a:solidFill>
                        </a:rPr>
                        <a:t>2022</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a:t>3.</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Business Transformation Using Big Data Analytics and Machine Learning .</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P Majumdar, S Mitra</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rPr>
                        <a:t>2022</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a:t>4.</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Prediction of quality food sale in mart using the AI-based TOR method</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D Irfan, X Tang, V Narayanan, PK Mall </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IN" dirty="0">
                          <a:solidFill>
                            <a:schemeClr val="dk1"/>
                          </a:solidFill>
                        </a:rPr>
                        <a:t>2022</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a:t>5.</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200"/>
                        </a:spcAft>
                        <a:buClr>
                          <a:schemeClr val="dk1"/>
                        </a:buClr>
                        <a:buSzPts val="1100"/>
                        <a:buFont typeface="Arial"/>
                        <a:buNone/>
                      </a:pPr>
                      <a:r>
                        <a:rPr lang="en-US" sz="1400" b="0" i="0" u="none" strike="noStrike" cap="none" dirty="0">
                          <a:solidFill>
                            <a:srgbClr val="000000"/>
                          </a:solidFill>
                          <a:effectLst/>
                          <a:latin typeface="Arial"/>
                          <a:ea typeface="Arial"/>
                          <a:cs typeface="Arial"/>
                          <a:sym typeface="Arial"/>
                        </a:rPr>
                        <a:t> </a:t>
                      </a: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Machine learning application for black Friday sales prediction framework</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200"/>
                        </a:spcAft>
                        <a:buClr>
                          <a:schemeClr val="dk1"/>
                        </a:buClr>
                        <a:buSzPts val="1100"/>
                        <a:buFont typeface="Arial"/>
                        <a:buNone/>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HV Ramachandra, H Patil</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rPr>
                        <a:t>2021</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BD484-F8C3-A5DB-CDCC-EFCC0087B64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LITERATURE SURVEY</a:t>
            </a:r>
          </a:p>
        </p:txBody>
      </p:sp>
      <p:graphicFrame>
        <p:nvGraphicFramePr>
          <p:cNvPr id="4" name="Google Shape;155;p6">
            <a:extLst>
              <a:ext uri="{FF2B5EF4-FFF2-40B4-BE49-F238E27FC236}">
                <a16:creationId xmlns:a16="http://schemas.microsoft.com/office/drawing/2014/main" id="{1E785DCD-E2A4-6985-3E0F-88DB2D4D517E}"/>
              </a:ext>
            </a:extLst>
          </p:cNvPr>
          <p:cNvGraphicFramePr/>
          <p:nvPr>
            <p:extLst>
              <p:ext uri="{D42A27DB-BD31-4B8C-83A1-F6EECF244321}">
                <p14:modId xmlns:p14="http://schemas.microsoft.com/office/powerpoint/2010/main" val="4274443799"/>
              </p:ext>
            </p:extLst>
          </p:nvPr>
        </p:nvGraphicFramePr>
        <p:xfrm>
          <a:off x="487300" y="1022125"/>
          <a:ext cx="8184425" cy="4639196"/>
        </p:xfrm>
        <a:graphic>
          <a:graphicData uri="http://schemas.openxmlformats.org/drawingml/2006/table">
            <a:tbl>
              <a:tblPr>
                <a:noFill/>
                <a:tableStyleId>{9B2FBFC6-B900-4C24-9E69-20D259D9EA4D}</a:tableStyleId>
              </a:tblPr>
              <a:tblGrid>
                <a:gridCol w="834325">
                  <a:extLst>
                    <a:ext uri="{9D8B030D-6E8A-4147-A177-3AD203B41FA5}">
                      <a16:colId xmlns:a16="http://schemas.microsoft.com/office/drawing/2014/main" val="20000"/>
                    </a:ext>
                  </a:extLst>
                </a:gridCol>
                <a:gridCol w="3145325">
                  <a:extLst>
                    <a:ext uri="{9D8B030D-6E8A-4147-A177-3AD203B41FA5}">
                      <a16:colId xmlns:a16="http://schemas.microsoft.com/office/drawing/2014/main" val="20001"/>
                    </a:ext>
                  </a:extLst>
                </a:gridCol>
                <a:gridCol w="2890225">
                  <a:extLst>
                    <a:ext uri="{9D8B030D-6E8A-4147-A177-3AD203B41FA5}">
                      <a16:colId xmlns:a16="http://schemas.microsoft.com/office/drawing/2014/main" val="20002"/>
                    </a:ext>
                  </a:extLst>
                </a:gridCol>
                <a:gridCol w="13145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SI.NO</a:t>
                      </a:r>
                      <a:endParaRPr b="1" dirty="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NAME OF THE PAPER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AUTHOR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YEAR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dirty="0"/>
                        <a:t>6.</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marR="0" lvl="0" indent="0" algn="just" defTabSz="914400" rtl="0" eaLnBrk="1" fontAlgn="auto" latinLnBrk="0" hangingPunct="1">
                        <a:lnSpc>
                          <a:spcPct val="150000"/>
                        </a:lnSpc>
                        <a:spcBef>
                          <a:spcPts val="0"/>
                        </a:spcBef>
                        <a:spcAft>
                          <a:spcPts val="1560"/>
                        </a:spcAft>
                        <a:buClr>
                          <a:srgbClr val="000000"/>
                        </a:buClr>
                        <a:buSzTx/>
                        <a:buFont typeface="Arial"/>
                        <a:buNone/>
                        <a:tabLst/>
                        <a:defRPr/>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Future sales prediction for Indian products using convolutional neural network-long short term memory.</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None/>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P </a:t>
                      </a:r>
                      <a:r>
                        <a:rPr lang="en-US" sz="14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Kaunchi</a:t>
                      </a: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T Jadhav, Y </a:t>
                      </a:r>
                      <a:r>
                        <a:rPr lang="en-US" sz="14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Dandawate</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t>2021</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64397">
                <a:tc>
                  <a:txBody>
                    <a:bodyPr/>
                    <a:lstStyle/>
                    <a:p>
                      <a:pPr marL="0" lvl="0" indent="0" algn="l" rtl="0">
                        <a:spcBef>
                          <a:spcPts val="0"/>
                        </a:spcBef>
                        <a:spcAft>
                          <a:spcPts val="0"/>
                        </a:spcAft>
                        <a:buNone/>
                      </a:pPr>
                      <a:r>
                        <a:rPr lang="en-US" dirty="0"/>
                        <a:t>7.</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Using machine learning to predict retail business volume</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MA </a:t>
                      </a:r>
                      <a:r>
                        <a:rPr lang="en-US" dirty="0" err="1">
                          <a:solidFill>
                            <a:schemeClr val="dk1"/>
                          </a:solidFill>
                          <a:latin typeface="Times New Roman"/>
                          <a:ea typeface="Times New Roman"/>
                          <a:cs typeface="Times New Roman"/>
                          <a:sym typeface="Times New Roman"/>
                        </a:rPr>
                        <a:t>Scarpati</a:t>
                      </a:r>
                      <a:r>
                        <a:rPr lang="en-US" dirty="0">
                          <a:solidFill>
                            <a:schemeClr val="dk1"/>
                          </a:solidFill>
                          <a:latin typeface="Times New Roman"/>
                          <a:ea typeface="Times New Roman"/>
                          <a:cs typeface="Times New Roman"/>
                          <a:sym typeface="Times New Roman"/>
                        </a:rPr>
                        <a:t>, A </a:t>
                      </a:r>
                      <a:r>
                        <a:rPr lang="en-US" dirty="0" err="1">
                          <a:solidFill>
                            <a:schemeClr val="dk1"/>
                          </a:solidFill>
                          <a:latin typeface="Times New Roman"/>
                          <a:ea typeface="Times New Roman"/>
                          <a:cs typeface="Times New Roman"/>
                          <a:sym typeface="Times New Roman"/>
                        </a:rPr>
                        <a:t>Krowitz</a:t>
                      </a:r>
                      <a:r>
                        <a:rPr lang="en-US" dirty="0">
                          <a:solidFill>
                            <a:schemeClr val="dk1"/>
                          </a:solidFill>
                          <a:latin typeface="Times New Roman"/>
                          <a:ea typeface="Times New Roman"/>
                          <a:cs typeface="Times New Roman"/>
                          <a:sym typeface="Times New Roman"/>
                        </a:rPr>
                        <a:t>, M </a:t>
                      </a:r>
                      <a:r>
                        <a:rPr lang="en-US" dirty="0" err="1">
                          <a:solidFill>
                            <a:schemeClr val="dk1"/>
                          </a:solidFill>
                          <a:latin typeface="Times New Roman"/>
                          <a:ea typeface="Times New Roman"/>
                          <a:cs typeface="Times New Roman"/>
                          <a:sym typeface="Times New Roman"/>
                        </a:rPr>
                        <a:t>Tapp</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dirty="0">
                          <a:solidFill>
                            <a:schemeClr val="dk1"/>
                          </a:solidFill>
                        </a:rPr>
                        <a:t>2021</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dirty="0"/>
                        <a:t>8.</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Forecasting new product demand using machine learning</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PS Smirnov, VA Sudakov</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rPr>
                        <a:t>2021</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dirty="0"/>
                        <a:t>9.</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Sales prediction model for Big Mart</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N Malik, K Singh</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IN" dirty="0">
                          <a:solidFill>
                            <a:schemeClr val="dk1"/>
                          </a:solidFill>
                        </a:rPr>
                        <a:t>2020</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dirty="0"/>
                        <a:t>10.</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200"/>
                        </a:spcAft>
                        <a:buClr>
                          <a:schemeClr val="dk1"/>
                        </a:buClr>
                        <a:buSzPts val="1100"/>
                        <a:buFont typeface="Arial"/>
                        <a:buNone/>
                      </a:pPr>
                      <a:r>
                        <a:rPr lang="en-US" sz="1400" b="0" i="0" u="none" strike="noStrike" cap="none" dirty="0">
                          <a:solidFill>
                            <a:srgbClr val="000000"/>
                          </a:solidFill>
                          <a:effectLst/>
                          <a:latin typeface="Arial"/>
                          <a:ea typeface="Arial"/>
                          <a:cs typeface="Arial"/>
                          <a:sym typeface="Arial"/>
                        </a:rPr>
                        <a:t>Comparative analysis of supervised machine learning techniques for sales forecasting</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200"/>
                        </a:spcAft>
                        <a:buClr>
                          <a:schemeClr val="dk1"/>
                        </a:buClr>
                        <a:buSzPts val="1100"/>
                        <a:buFont typeface="Arial"/>
                        <a:buNone/>
                      </a:pPr>
                      <a:r>
                        <a:rPr lang="en-US" sz="1400" b="0" i="0" u="none" strike="noStrike" cap="none" dirty="0">
                          <a:solidFill>
                            <a:srgbClr val="000000"/>
                          </a:solidFill>
                          <a:effectLst/>
                          <a:latin typeface="Arial"/>
                          <a:ea typeface="Arial"/>
                          <a:cs typeface="Arial"/>
                          <a:sym typeface="Arial"/>
                        </a:rPr>
                        <a:t> S </a:t>
                      </a:r>
                      <a:r>
                        <a:rPr lang="en-US" sz="1400" b="0" i="0" u="none" strike="noStrike" cap="none" dirty="0" err="1">
                          <a:solidFill>
                            <a:srgbClr val="000000"/>
                          </a:solidFill>
                          <a:effectLst/>
                          <a:latin typeface="Arial"/>
                          <a:ea typeface="Arial"/>
                          <a:cs typeface="Arial"/>
                          <a:sym typeface="Arial"/>
                        </a:rPr>
                        <a:t>Raizada</a:t>
                      </a:r>
                      <a:r>
                        <a:rPr lang="en-US" sz="1400" b="0" i="0" u="none" strike="noStrike" cap="none" dirty="0">
                          <a:solidFill>
                            <a:srgbClr val="000000"/>
                          </a:solidFill>
                          <a:effectLst/>
                          <a:latin typeface="Arial"/>
                          <a:ea typeface="Arial"/>
                          <a:cs typeface="Arial"/>
                          <a:sym typeface="Arial"/>
                        </a:rPr>
                        <a:t>, JR Saini  </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rPr>
                        <a:t>2019</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31583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9"/>
          <p:cNvSpPr txBox="1">
            <a:spLocks noGrp="1"/>
          </p:cNvSpPr>
          <p:nvPr>
            <p:ph type="title"/>
          </p:nvPr>
        </p:nvSpPr>
        <p:spPr>
          <a:xfrm>
            <a:off x="190500" y="106363"/>
            <a:ext cx="8763000" cy="8079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a:latin typeface="Times New Roman"/>
                <a:ea typeface="Times New Roman"/>
                <a:cs typeface="Times New Roman"/>
                <a:sym typeface="Times New Roman"/>
              </a:rPr>
              <a:t>EXISTING SYSTEM</a:t>
            </a:r>
            <a:endParaRPr b="1">
              <a:latin typeface="Times New Roman"/>
              <a:ea typeface="Times New Roman"/>
              <a:cs typeface="Times New Roman"/>
              <a:sym typeface="Times New Roman"/>
            </a:endParaRPr>
          </a:p>
        </p:txBody>
      </p:sp>
      <p:sp>
        <p:nvSpPr>
          <p:cNvPr id="120" name="Google Shape;120;p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292100" marR="431800" lvl="0" indent="0" algn="just" rtl="0">
              <a:lnSpc>
                <a:spcPct val="100000"/>
              </a:lnSpc>
              <a:spcBef>
                <a:spcPts val="0"/>
              </a:spcBef>
              <a:spcAft>
                <a:spcPts val="0"/>
              </a:spcAft>
              <a:buClr>
                <a:schemeClr val="dk1"/>
              </a:buClr>
              <a:buSzPts val="1100"/>
              <a:buFont typeface="Arial"/>
              <a:buNone/>
            </a:pPr>
            <a:endParaRPr lang="en-US" sz="2100" dirty="0">
              <a:latin typeface="Times New Roman"/>
              <a:ea typeface="Times New Roman"/>
              <a:cs typeface="Times New Roman"/>
              <a:sym typeface="Times New Roman"/>
            </a:endParaRPr>
          </a:p>
          <a:p>
            <a:pPr marL="292100" marR="431800" lvl="0" indent="0" algn="just" rtl="0">
              <a:lnSpc>
                <a:spcPct val="100000"/>
              </a:lnSpc>
              <a:spcBef>
                <a:spcPts val="0"/>
              </a:spcBef>
              <a:spcAft>
                <a:spcPts val="0"/>
              </a:spcAft>
              <a:buClr>
                <a:schemeClr val="dk1"/>
              </a:buClr>
              <a:buSzPts val="1100"/>
              <a:buFont typeface="Arial"/>
              <a:buNone/>
            </a:pPr>
            <a:r>
              <a:rPr lang="en-US" sz="2000" dirty="0">
                <a:latin typeface="Times New Roman"/>
                <a:ea typeface="Times New Roman"/>
                <a:cs typeface="Times New Roman"/>
                <a:sym typeface="Times New Roman"/>
              </a:rPr>
              <a:t>Mostly several regression models were used to predict the sales of the market. In the paper titled “</a:t>
            </a:r>
            <a:r>
              <a:rPr lang="en-US" sz="2000" b="1" dirty="0">
                <a:solidFill>
                  <a:schemeClr val="tx1"/>
                </a:solidFill>
                <a:latin typeface="Times New Roman" panose="02020603050405020304" pitchFamily="18" charset="0"/>
              </a:rPr>
              <a:t>Sales prediction Model for Big Mart</a:t>
            </a:r>
            <a:r>
              <a:rPr lang="en-US" sz="2000" b="0" i="0" u="none" strike="noStrike" dirty="0">
                <a:solidFill>
                  <a:srgbClr val="000000"/>
                </a:solidFill>
                <a:effectLst/>
                <a:latin typeface="Times New Roman"/>
                <a:cs typeface="Times New Roman"/>
                <a:sym typeface="Times New Roman"/>
              </a:rPr>
              <a:t>”</a:t>
            </a:r>
            <a:r>
              <a:rPr lang="en-US" sz="2000" dirty="0">
                <a:latin typeface="Times New Roman"/>
                <a:ea typeface="Times New Roman"/>
                <a:cs typeface="Times New Roman"/>
                <a:sym typeface="Times New Roman"/>
              </a:rPr>
              <a:t> by  N Malik, and K Singh in 2020 the proposed solution of this paper uses ‘Big Mart’  as the dataset. The Algorithms used in this system were LR, DT, and RF algorithms. Here python is used as a programming language and </a:t>
            </a:r>
            <a:r>
              <a:rPr lang="en-US" sz="2000" dirty="0" err="1">
                <a:latin typeface="Times New Roman"/>
                <a:ea typeface="Times New Roman"/>
                <a:cs typeface="Times New Roman"/>
                <a:sym typeface="Times New Roman"/>
              </a:rPr>
              <a:t>Jupyter</a:t>
            </a:r>
            <a:r>
              <a:rPr lang="en-US" sz="2000" dirty="0">
                <a:latin typeface="Times New Roman"/>
                <a:ea typeface="Times New Roman"/>
                <a:cs typeface="Times New Roman"/>
                <a:sym typeface="Times New Roman"/>
              </a:rPr>
              <a:t> Notebook is used as a tool. This Proposed Solution is mainly used to predict the future sales of the company with a maximum accuracy of 60.8% using the Random Forest Algorithm. In this paper several algorithms were used to predict the accuracy of the system, In that RF algorithm produces maximum accuracy.</a:t>
            </a:r>
            <a:endParaRPr sz="2000" dirty="0">
              <a:latin typeface="Times New Roman"/>
              <a:ea typeface="Times New Roman"/>
              <a:cs typeface="Times New Roman"/>
              <a:sym typeface="Times New Roman"/>
            </a:endParaRPr>
          </a:p>
          <a:p>
            <a:pPr marL="342900" lvl="0" indent="-190500" algn="l" rtl="0">
              <a:lnSpc>
                <a:spcPct val="114000"/>
              </a:lnSpc>
              <a:spcBef>
                <a:spcPts val="480"/>
              </a:spcBef>
              <a:spcAft>
                <a:spcPts val="0"/>
              </a:spcAft>
              <a:buClr>
                <a:schemeClr val="dk1"/>
              </a:buClr>
              <a:buSzPts val="2400"/>
              <a:buFont typeface="Noto Sans Symbols"/>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0"/>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dirty="0">
                <a:latin typeface="Times New Roman"/>
                <a:ea typeface="Times New Roman"/>
                <a:cs typeface="Times New Roman"/>
                <a:sym typeface="Times New Roman"/>
              </a:rPr>
              <a:t>PROPOSED SYSTEM</a:t>
            </a:r>
            <a:endParaRPr b="1" dirty="0">
              <a:latin typeface="Times New Roman"/>
              <a:ea typeface="Times New Roman"/>
              <a:cs typeface="Times New Roman"/>
              <a:sym typeface="Times New Roman"/>
            </a:endParaRPr>
          </a:p>
        </p:txBody>
      </p:sp>
      <p:sp>
        <p:nvSpPr>
          <p:cNvPr id="127" name="Google Shape;127;p10"/>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177800" marR="393700" indent="0" algn="just">
              <a:lnSpc>
                <a:spcPct val="115000"/>
              </a:lnSpc>
              <a:spcBef>
                <a:spcPts val="0"/>
              </a:spcBef>
              <a:buSzPts val="1100"/>
              <a:buNone/>
            </a:pPr>
            <a:endParaRPr lang="en-IN" sz="1800" dirty="0">
              <a:solidFill>
                <a:srgbClr val="000000"/>
              </a:solidFill>
              <a:effectLst/>
              <a:latin typeface="Times New Roman" panose="02020603050405020304" pitchFamily="18" charset="0"/>
              <a:ea typeface="Times New Roman" panose="02020603050405020304" pitchFamily="18" charset="0"/>
            </a:endParaRPr>
          </a:p>
          <a:p>
            <a:pPr marL="177800" marR="393700" indent="0" algn="just">
              <a:lnSpc>
                <a:spcPct val="100000"/>
              </a:lnSpc>
              <a:spcBef>
                <a:spcPts val="0"/>
              </a:spcBef>
              <a:buSzPts val="1100"/>
              <a:buNone/>
            </a:pPr>
            <a:r>
              <a:rPr lang="en-IN" sz="2000" dirty="0">
                <a:solidFill>
                  <a:srgbClr val="000000"/>
                </a:solidFill>
                <a:effectLst/>
                <a:latin typeface="Times New Roman" panose="02020603050405020304" pitchFamily="18" charset="0"/>
                <a:ea typeface="Times New Roman" panose="02020603050405020304" pitchFamily="18" charset="0"/>
              </a:rPr>
              <a:t>Our proposed model predicts the Market sales of the company and also uses </a:t>
            </a:r>
            <a:r>
              <a:rPr lang="en-IN" sz="2000" dirty="0" err="1">
                <a:solidFill>
                  <a:srgbClr val="000000"/>
                </a:solidFill>
                <a:effectLst/>
                <a:latin typeface="Times New Roman" panose="02020603050405020304" pitchFamily="18" charset="0"/>
                <a:ea typeface="Times New Roman" panose="02020603050405020304" pitchFamily="18" charset="0"/>
              </a:rPr>
              <a:t>XGboost</a:t>
            </a:r>
            <a:r>
              <a:rPr lang="en-IN" sz="2000" dirty="0">
                <a:solidFill>
                  <a:srgbClr val="000000"/>
                </a:solidFill>
                <a:effectLst/>
                <a:latin typeface="Times New Roman" panose="02020603050405020304" pitchFamily="18" charset="0"/>
                <a:ea typeface="Times New Roman" panose="02020603050405020304" pitchFamily="18" charset="0"/>
              </a:rPr>
              <a:t> algorithm to enhance the accuracy of the system. The trained model is used to predict the sales of the company and also helps in early prediction of the future sales of that company for that  we </a:t>
            </a:r>
            <a:r>
              <a:rPr lang="en-US" sz="2000" dirty="0">
                <a:latin typeface="Times New Roman"/>
                <a:ea typeface="Times New Roman"/>
                <a:cs typeface="Times New Roman"/>
                <a:sym typeface="Times New Roman"/>
              </a:rPr>
              <a:t>uses LR, RF, and XGB algorithms to predict the accuracy and sales of the system. In this System, XGB was found to be more suitable with an accuracy rather than the RF algorithm. </a:t>
            </a:r>
            <a:r>
              <a:rPr lang="en-IN" sz="2000" dirty="0">
                <a:solidFill>
                  <a:srgbClr val="000000"/>
                </a:solidFill>
                <a:effectLst/>
                <a:latin typeface="Times New Roman" panose="02020603050405020304" pitchFamily="18" charset="0"/>
                <a:ea typeface="Times New Roman" panose="02020603050405020304" pitchFamily="18" charset="0"/>
              </a:rPr>
              <a:t>.</a:t>
            </a:r>
            <a:r>
              <a:rPr lang="en-IN" sz="2000" dirty="0">
                <a:effectLst/>
                <a:latin typeface="Times New Roman" panose="02020603050405020304" pitchFamily="18" charset="0"/>
                <a:ea typeface="Times New Roman" panose="02020603050405020304" pitchFamily="18" charset="0"/>
              </a:rPr>
              <a:t> </a:t>
            </a:r>
            <a:r>
              <a:rPr lang="en-IN" sz="2000" dirty="0">
                <a:solidFill>
                  <a:srgbClr val="000000"/>
                </a:solidFill>
                <a:effectLst/>
                <a:latin typeface="Times New Roman" panose="02020603050405020304" pitchFamily="18" charset="0"/>
                <a:ea typeface="Times New Roman" panose="02020603050405020304" pitchFamily="18" charset="0"/>
              </a:rPr>
              <a:t>By using this prediction of Market sales we can improve the satisfaction of the customers and optimize the stock levels for profitability.</a:t>
            </a:r>
            <a:endParaRPr lang="en-IN" sz="20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2"/>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sym typeface="Calibri"/>
              </a:rPr>
              <a:t>PROPOSED METHODOLOGY</a:t>
            </a:r>
            <a:endParaRPr b="1" dirty="0">
              <a:latin typeface="Times New Roman" panose="02020603050405020304" pitchFamily="18" charset="0"/>
              <a:cs typeface="Times New Roman" panose="02020603050405020304" pitchFamily="18" charset="0"/>
              <a:sym typeface="Calibri"/>
            </a:endParaRPr>
          </a:p>
        </p:txBody>
      </p:sp>
      <p:pic>
        <p:nvPicPr>
          <p:cNvPr id="3" name="Picture 2">
            <a:extLst>
              <a:ext uri="{FF2B5EF4-FFF2-40B4-BE49-F238E27FC236}">
                <a16:creationId xmlns:a16="http://schemas.microsoft.com/office/drawing/2014/main" id="{BA13269D-41EA-1710-A535-87FA363B062C}"/>
              </a:ext>
            </a:extLst>
          </p:cNvPr>
          <p:cNvPicPr>
            <a:picLocks noChangeAspect="1"/>
          </p:cNvPicPr>
          <p:nvPr/>
        </p:nvPicPr>
        <p:blipFill>
          <a:blip r:embed="rId3"/>
          <a:stretch>
            <a:fillRect/>
          </a:stretch>
        </p:blipFill>
        <p:spPr>
          <a:xfrm>
            <a:off x="190500" y="1119553"/>
            <a:ext cx="8572500" cy="46188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1"/>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dirty="0">
                <a:latin typeface="Times New Roman"/>
                <a:ea typeface="Times New Roman"/>
                <a:cs typeface="Times New Roman"/>
                <a:sym typeface="Times New Roman"/>
              </a:rPr>
              <a:t>RESULTS AND DISCUSSIONS</a:t>
            </a:r>
            <a:endParaRPr b="1" dirty="0">
              <a:latin typeface="Times New Roman"/>
              <a:ea typeface="Times New Roman"/>
              <a:cs typeface="Times New Roman"/>
              <a:sym typeface="Times New Roman"/>
            </a:endParaRPr>
          </a:p>
        </p:txBody>
      </p:sp>
      <p:sp>
        <p:nvSpPr>
          <p:cNvPr id="176" name="Google Shape;176;p11"/>
          <p:cNvSpPr txBox="1">
            <a:spLocks noGrp="1"/>
          </p:cNvSpPr>
          <p:nvPr>
            <p:ph type="body" idx="1"/>
          </p:nvPr>
        </p:nvSpPr>
        <p:spPr>
          <a:xfrm>
            <a:off x="190500" y="944163"/>
            <a:ext cx="8442223" cy="4935527"/>
          </a:xfrm>
          <a:prstGeom prst="rect">
            <a:avLst/>
          </a:prstGeom>
          <a:noFill/>
          <a:ln>
            <a:noFill/>
          </a:ln>
        </p:spPr>
        <p:txBody>
          <a:bodyPr spcFirstLastPara="1" wrap="square" lIns="91425" tIns="45700" rIns="91425" bIns="45700" anchor="t" anchorCtr="0">
            <a:normAutofit/>
          </a:bodyPr>
          <a:lstStyle/>
          <a:p>
            <a:pPr marL="76200" lvl="0" indent="0" algn="l" rtl="0">
              <a:lnSpc>
                <a:spcPct val="114000"/>
              </a:lnSpc>
              <a:spcBef>
                <a:spcPts val="480"/>
              </a:spcBef>
              <a:spcAft>
                <a:spcPts val="0"/>
              </a:spcAft>
              <a:buSzPts val="2400"/>
              <a:buNone/>
            </a:pPr>
            <a:r>
              <a:rPr lang="en-IN" sz="1800" b="0" i="0" u="none" strike="noStrike" dirty="0">
                <a:solidFill>
                  <a:srgbClr val="000000"/>
                </a:solidFill>
                <a:effectLst/>
                <a:latin typeface="Times New Roman" panose="02020603050405020304" pitchFamily="18" charset="0"/>
              </a:rPr>
              <a:t>         </a:t>
            </a:r>
            <a:r>
              <a:rPr lang="en-IN" sz="1800" b="1" dirty="0">
                <a:solidFill>
                  <a:srgbClr val="000000"/>
                </a:solidFill>
                <a:latin typeface="Times New Roman" panose="02020603050405020304" pitchFamily="18" charset="0"/>
              </a:rPr>
              <a:t>TRAINING AND TESTING ACCURACY GRAPH:</a:t>
            </a:r>
            <a:r>
              <a:rPr lang="en-IN" sz="1800" b="1" i="0" u="none" strike="noStrike" dirty="0">
                <a:solidFill>
                  <a:srgbClr val="000000"/>
                </a:solidFill>
                <a:effectLst/>
                <a:latin typeface="Times New Roman" panose="02020603050405020304" pitchFamily="18" charset="0"/>
              </a:rPr>
              <a:t> </a:t>
            </a:r>
          </a:p>
          <a:p>
            <a:pPr marL="76200" lvl="0" indent="0" algn="l" rtl="0">
              <a:lnSpc>
                <a:spcPct val="114000"/>
              </a:lnSpc>
              <a:spcBef>
                <a:spcPts val="480"/>
              </a:spcBef>
              <a:spcAft>
                <a:spcPts val="0"/>
              </a:spcAft>
              <a:buSzPts val="2400"/>
              <a:buNone/>
            </a:pPr>
            <a:r>
              <a:rPr lang="en-US" sz="1800" b="0" i="0" u="none" strike="noStrike" dirty="0">
                <a:solidFill>
                  <a:srgbClr val="000000"/>
                </a:solidFill>
                <a:effectLst/>
                <a:latin typeface="Times New Roman" panose="02020603050405020304" pitchFamily="18" charset="0"/>
              </a:rPr>
              <a:t>Thus our model is tested against the test data and the testing and training accuracy graph has been plotted, where the blue line indicates the Testing dataset accuracy graph and the Red line indicates Trained set accuracy</a:t>
            </a:r>
            <a:r>
              <a:rPr lang="en-IN" sz="1800" b="1" i="0" u="none" strike="noStrike" dirty="0">
                <a:solidFill>
                  <a:srgbClr val="000000"/>
                </a:solidFill>
                <a:effectLst/>
                <a:latin typeface="Times New Roman" panose="02020603050405020304" pitchFamily="18" charset="0"/>
              </a:rPr>
              <a:t> </a:t>
            </a:r>
            <a:r>
              <a:rPr lang="en-IN" sz="1800" i="0" u="none" strike="noStrike" dirty="0">
                <a:solidFill>
                  <a:srgbClr val="000000"/>
                </a:solidFill>
                <a:effectLst/>
                <a:latin typeface="Times New Roman" panose="02020603050405020304" pitchFamily="18" charset="0"/>
              </a:rPr>
              <a:t>graph.</a:t>
            </a:r>
            <a:r>
              <a:rPr lang="en-IN" sz="1800" b="1" i="0" u="none" strike="noStrike" dirty="0">
                <a:solidFill>
                  <a:srgbClr val="000000"/>
                </a:solidFill>
                <a:effectLst/>
                <a:latin typeface="Times New Roman" panose="02020603050405020304" pitchFamily="18" charset="0"/>
              </a:rPr>
              <a:t>  </a:t>
            </a:r>
          </a:p>
          <a:p>
            <a:pPr marL="76200" lvl="0" indent="0" algn="l" rtl="0">
              <a:lnSpc>
                <a:spcPct val="114000"/>
              </a:lnSpc>
              <a:spcBef>
                <a:spcPts val="480"/>
              </a:spcBef>
              <a:spcAft>
                <a:spcPts val="0"/>
              </a:spcAft>
              <a:buSzPts val="2400"/>
              <a:buNone/>
            </a:pPr>
            <a:endParaRPr lang="en-IN" sz="1800" b="1" dirty="0">
              <a:solidFill>
                <a:srgbClr val="000000"/>
              </a:solidFill>
              <a:latin typeface="Times New Roman" panose="02020603050405020304" pitchFamily="18" charset="0"/>
            </a:endParaRPr>
          </a:p>
          <a:p>
            <a:pPr marL="76200" lvl="0" indent="0" algn="l" rtl="0">
              <a:lnSpc>
                <a:spcPct val="114000"/>
              </a:lnSpc>
              <a:spcBef>
                <a:spcPts val="480"/>
              </a:spcBef>
              <a:spcAft>
                <a:spcPts val="0"/>
              </a:spcAft>
              <a:buSzPts val="2400"/>
              <a:buNone/>
            </a:pPr>
            <a:endParaRPr lang="en-IN" sz="1800" b="1" i="0" u="none" strike="noStrike" dirty="0">
              <a:solidFill>
                <a:srgbClr val="000000"/>
              </a:solidFill>
              <a:effectLst/>
              <a:latin typeface="Times New Roman" panose="02020603050405020304" pitchFamily="18" charset="0"/>
            </a:endParaRPr>
          </a:p>
          <a:p>
            <a:pPr marL="76200" lvl="0" indent="0" algn="l" rtl="0">
              <a:lnSpc>
                <a:spcPct val="114000"/>
              </a:lnSpc>
              <a:spcBef>
                <a:spcPts val="480"/>
              </a:spcBef>
              <a:spcAft>
                <a:spcPts val="0"/>
              </a:spcAft>
              <a:buSzPts val="2400"/>
              <a:buNone/>
            </a:pPr>
            <a:r>
              <a:rPr lang="en-IN" sz="1800" b="1" i="0" u="none" strike="noStrike" dirty="0">
                <a:solidFill>
                  <a:srgbClr val="000000"/>
                </a:solidFill>
                <a:effectLst/>
                <a:latin typeface="Times New Roman" panose="02020603050405020304" pitchFamily="18" charset="0"/>
              </a:rPr>
              <a:t>                                          </a:t>
            </a:r>
            <a:endParaRPr b="1" dirty="0">
              <a:latin typeface="Times New Roman"/>
              <a:ea typeface="Times New Roman"/>
              <a:cs typeface="Times New Roman"/>
              <a:sym typeface="Times New Roman"/>
            </a:endParaRPr>
          </a:p>
        </p:txBody>
      </p:sp>
      <p:pic>
        <p:nvPicPr>
          <p:cNvPr id="2052" name="Picture 4">
            <a:extLst>
              <a:ext uri="{FF2B5EF4-FFF2-40B4-BE49-F238E27FC236}">
                <a16:creationId xmlns:a16="http://schemas.microsoft.com/office/drawing/2014/main" id="{F93F9D4B-09A5-48BE-5C8B-6BC2DFBFCF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7514" y="3043273"/>
            <a:ext cx="3338768" cy="3228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616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IN" b="1" dirty="0">
                <a:latin typeface="Times New Roman"/>
                <a:ea typeface="Times New Roman"/>
                <a:cs typeface="Times New Roman"/>
                <a:sym typeface="Times New Roman"/>
              </a:rPr>
              <a:t>RESULTS AND DISCUSSION</a:t>
            </a:r>
            <a:endParaRPr b="1" dirty="0">
              <a:latin typeface="Times New Roman"/>
              <a:ea typeface="Times New Roman"/>
              <a:cs typeface="Times New Roman"/>
              <a:sym typeface="Times New Roman"/>
            </a:endParaRPr>
          </a:p>
        </p:txBody>
      </p:sp>
      <p:sp>
        <p:nvSpPr>
          <p:cNvPr id="162" name="Google Shape;162;p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95250" lvl="0" indent="0" algn="l" rtl="0">
              <a:lnSpc>
                <a:spcPct val="115000"/>
              </a:lnSpc>
              <a:spcBef>
                <a:spcPts val="0"/>
              </a:spcBef>
              <a:spcAft>
                <a:spcPts val="0"/>
              </a:spcAft>
              <a:buClr>
                <a:srgbClr val="0D0D0D"/>
              </a:buClr>
              <a:buSzPts val="2100"/>
              <a:buNone/>
            </a:pPr>
            <a:r>
              <a:rPr lang="en-US" sz="1800" dirty="0">
                <a:solidFill>
                  <a:srgbClr val="000000"/>
                </a:solidFill>
                <a:effectLst/>
                <a:latin typeface="Times New Roman" panose="02020603050405020304" pitchFamily="18" charset="0"/>
                <a:ea typeface="Times New Roman" panose="02020603050405020304" pitchFamily="18" charset="0"/>
              </a:rPr>
              <a:t>For performance analysis, we can go and look for the accuracy value of the different algorithms performed and check for which algorithm gives us the best performance with higher accuracy.</a:t>
            </a:r>
          </a:p>
          <a:p>
            <a:pPr marL="95250" lvl="0" indent="0" algn="l" rtl="0">
              <a:lnSpc>
                <a:spcPct val="115000"/>
              </a:lnSpc>
              <a:spcBef>
                <a:spcPts val="0"/>
              </a:spcBef>
              <a:spcAft>
                <a:spcPts val="0"/>
              </a:spcAft>
              <a:buClr>
                <a:srgbClr val="0D0D0D"/>
              </a:buClr>
              <a:buSzPts val="2100"/>
              <a:buNone/>
            </a:pPr>
            <a:r>
              <a:rPr lang="en-US" sz="1800" b="1" dirty="0">
                <a:solidFill>
                  <a:srgbClr val="000000"/>
                </a:solidFill>
                <a:effectLst/>
                <a:latin typeface="Times New Roman" panose="02020603050405020304" pitchFamily="18" charset="0"/>
                <a:ea typeface="Times New Roman" panose="02020603050405020304" pitchFamily="18" charset="0"/>
              </a:rPr>
              <a:t>Linear Regression:                                 Random Forest Algorithm:</a:t>
            </a:r>
          </a:p>
          <a:p>
            <a:pPr marL="95250" lvl="0" indent="0" algn="l" rtl="0">
              <a:lnSpc>
                <a:spcPct val="115000"/>
              </a:lnSpc>
              <a:spcBef>
                <a:spcPts val="0"/>
              </a:spcBef>
              <a:spcAft>
                <a:spcPts val="0"/>
              </a:spcAft>
              <a:buClr>
                <a:srgbClr val="0D0D0D"/>
              </a:buClr>
              <a:buSzPts val="2100"/>
              <a:buNone/>
            </a:pPr>
            <a:endParaRPr lang="en-US" sz="1800" dirty="0">
              <a:solidFill>
                <a:srgbClr val="000000"/>
              </a:solidFill>
              <a:latin typeface="Times New Roman" panose="02020603050405020304" pitchFamily="18" charset="0"/>
            </a:endParaRPr>
          </a:p>
          <a:p>
            <a:pPr marL="95250" lvl="0" indent="0" algn="l" rtl="0">
              <a:lnSpc>
                <a:spcPct val="115000"/>
              </a:lnSpc>
              <a:spcBef>
                <a:spcPts val="0"/>
              </a:spcBef>
              <a:spcAft>
                <a:spcPts val="0"/>
              </a:spcAft>
              <a:buClr>
                <a:srgbClr val="0D0D0D"/>
              </a:buClr>
              <a:buSzPts val="2100"/>
              <a:buNone/>
            </a:pPr>
            <a:endParaRPr dirty="0"/>
          </a:p>
        </p:txBody>
      </p:sp>
      <p:pic>
        <p:nvPicPr>
          <p:cNvPr id="3" name="Picture 2">
            <a:extLst>
              <a:ext uri="{FF2B5EF4-FFF2-40B4-BE49-F238E27FC236}">
                <a16:creationId xmlns:a16="http://schemas.microsoft.com/office/drawing/2014/main" id="{A99E775B-C81E-038D-3D8D-AF8F5EA00D40}"/>
              </a:ext>
            </a:extLst>
          </p:cNvPr>
          <p:cNvPicPr>
            <a:picLocks noChangeAspect="1"/>
          </p:cNvPicPr>
          <p:nvPr/>
        </p:nvPicPr>
        <p:blipFill rotWithShape="1">
          <a:blip r:embed="rId3"/>
          <a:srcRect r="15294"/>
          <a:stretch/>
        </p:blipFill>
        <p:spPr>
          <a:xfrm>
            <a:off x="530609" y="2339731"/>
            <a:ext cx="3267404" cy="2178538"/>
          </a:xfrm>
          <a:prstGeom prst="rect">
            <a:avLst/>
          </a:prstGeom>
        </p:spPr>
      </p:pic>
      <p:pic>
        <p:nvPicPr>
          <p:cNvPr id="5" name="Picture 4">
            <a:extLst>
              <a:ext uri="{FF2B5EF4-FFF2-40B4-BE49-F238E27FC236}">
                <a16:creationId xmlns:a16="http://schemas.microsoft.com/office/drawing/2014/main" id="{66877E69-390D-2AD2-58FC-1411EC8EB59B}"/>
              </a:ext>
            </a:extLst>
          </p:cNvPr>
          <p:cNvPicPr>
            <a:picLocks noChangeAspect="1"/>
          </p:cNvPicPr>
          <p:nvPr/>
        </p:nvPicPr>
        <p:blipFill>
          <a:blip r:embed="rId4"/>
          <a:stretch>
            <a:fillRect/>
          </a:stretch>
        </p:blipFill>
        <p:spPr>
          <a:xfrm>
            <a:off x="4138122" y="2557029"/>
            <a:ext cx="4052149" cy="1961240"/>
          </a:xfrm>
          <a:prstGeom prst="rect">
            <a:avLst/>
          </a:prstGeom>
        </p:spPr>
      </p:pic>
      <p:pic>
        <p:nvPicPr>
          <p:cNvPr id="9" name="Picture 8">
            <a:extLst>
              <a:ext uri="{FF2B5EF4-FFF2-40B4-BE49-F238E27FC236}">
                <a16:creationId xmlns:a16="http://schemas.microsoft.com/office/drawing/2014/main" id="{3B2E209E-086C-D7AE-9441-2931C807B549}"/>
              </a:ext>
            </a:extLst>
          </p:cNvPr>
          <p:cNvPicPr>
            <a:picLocks noChangeAspect="1"/>
          </p:cNvPicPr>
          <p:nvPr/>
        </p:nvPicPr>
        <p:blipFill>
          <a:blip r:embed="rId5"/>
          <a:stretch>
            <a:fillRect/>
          </a:stretch>
        </p:blipFill>
        <p:spPr>
          <a:xfrm>
            <a:off x="436910" y="4663048"/>
            <a:ext cx="4052150" cy="166155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20CB6-5831-F6B7-49F3-F5B02F6A42B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OUTPUT</a:t>
            </a:r>
          </a:p>
        </p:txBody>
      </p:sp>
      <p:sp>
        <p:nvSpPr>
          <p:cNvPr id="3" name="Text Placeholder 2">
            <a:extLst>
              <a:ext uri="{FF2B5EF4-FFF2-40B4-BE49-F238E27FC236}">
                <a16:creationId xmlns:a16="http://schemas.microsoft.com/office/drawing/2014/main" id="{E44B067E-01CF-0055-1F8B-3D0B0C0095E9}"/>
              </a:ext>
            </a:extLst>
          </p:cNvPr>
          <p:cNvSpPr>
            <a:spLocks noGrp="1"/>
          </p:cNvSpPr>
          <p:nvPr>
            <p:ph type="body" idx="1"/>
          </p:nvPr>
        </p:nvSpPr>
        <p:spPr/>
        <p:txBody>
          <a:bodyPr/>
          <a:lstStyle/>
          <a:p>
            <a:pPr marL="76200" indent="0">
              <a:buNone/>
            </a:pPr>
            <a:r>
              <a:rPr lang="en-IN" sz="1800" b="1" dirty="0">
                <a:solidFill>
                  <a:srgbClr val="000000"/>
                </a:solidFill>
                <a:effectLst/>
                <a:latin typeface="Times New Roman" panose="02020603050405020304" pitchFamily="18" charset="0"/>
                <a:ea typeface="Times New Roman" panose="02020603050405020304" pitchFamily="18" charset="0"/>
              </a:rPr>
              <a:t>PREDICTING MARKET SALES OF PRODUCT:</a:t>
            </a:r>
          </a:p>
          <a:p>
            <a:pPr marL="76200" indent="0">
              <a:buNone/>
            </a:pPr>
            <a:r>
              <a:rPr lang="en-IN" sz="1800" dirty="0">
                <a:solidFill>
                  <a:srgbClr val="000000"/>
                </a:solidFill>
                <a:effectLst/>
                <a:latin typeface="Times New Roman" panose="02020603050405020304" pitchFamily="18" charset="0"/>
                <a:ea typeface="Times New Roman" panose="02020603050405020304" pitchFamily="18" charset="0"/>
              </a:rPr>
              <a:t>Thus we conclude that the sales of the  Product from the particular store have been predicted by using the Machine learning Model.</a:t>
            </a:r>
            <a:endParaRPr lang="en-IN" sz="1800" dirty="0">
              <a:effectLst/>
              <a:latin typeface="Times New Roman" panose="02020603050405020304" pitchFamily="18" charset="0"/>
              <a:ea typeface="Times New Roman" panose="02020603050405020304" pitchFamily="18" charset="0"/>
            </a:endParaRPr>
          </a:p>
          <a:p>
            <a:pPr marL="76200" indent="0">
              <a:buNone/>
            </a:pP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2057D35-1E95-DF53-36C3-21C026F0A08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89123" y="2339463"/>
            <a:ext cx="4193458" cy="2970366"/>
          </a:xfrm>
          <a:prstGeom prst="rect">
            <a:avLst/>
          </a:prstGeom>
          <a:noFill/>
          <a:ln>
            <a:noFill/>
          </a:ln>
        </p:spPr>
      </p:pic>
    </p:spTree>
    <p:extLst>
      <p:ext uri="{BB962C8B-B14F-4D97-AF65-F5344CB8AC3E}">
        <p14:creationId xmlns:p14="http://schemas.microsoft.com/office/powerpoint/2010/main" val="1261787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2DDA8-603F-CCE1-ECCF-52046DF526A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COMPARATIVE ANALYSIS</a:t>
            </a:r>
          </a:p>
        </p:txBody>
      </p:sp>
      <p:sp>
        <p:nvSpPr>
          <p:cNvPr id="3" name="Text Placeholder 2">
            <a:extLst>
              <a:ext uri="{FF2B5EF4-FFF2-40B4-BE49-F238E27FC236}">
                <a16:creationId xmlns:a16="http://schemas.microsoft.com/office/drawing/2014/main" id="{B525C272-12A1-7063-0372-2E9DD3E32DFB}"/>
              </a:ext>
            </a:extLst>
          </p:cNvPr>
          <p:cNvSpPr>
            <a:spLocks noGrp="1"/>
          </p:cNvSpPr>
          <p:nvPr>
            <p:ph type="body" idx="1"/>
          </p:nvPr>
        </p:nvSpPr>
        <p:spPr/>
        <p:txBody>
          <a:bodyPr/>
          <a:lstStyle/>
          <a:p>
            <a:pPr marL="76200" indent="0">
              <a:buNone/>
            </a:pPr>
            <a:r>
              <a:rPr lang="en-US" sz="1800" dirty="0">
                <a:solidFill>
                  <a:srgbClr val="000000"/>
                </a:solidFill>
                <a:effectLst/>
                <a:latin typeface="Times New Roman" panose="02020603050405020304" pitchFamily="18" charset="0"/>
                <a:ea typeface="Times New Roman" panose="02020603050405020304" pitchFamily="18" charset="0"/>
              </a:rPr>
              <a:t>By using techniques such as Linear regression, Random Forest, and </a:t>
            </a:r>
            <a:r>
              <a:rPr lang="en-US" sz="1800" dirty="0" err="1">
                <a:solidFill>
                  <a:srgbClr val="000000"/>
                </a:solidFill>
                <a:effectLst/>
                <a:latin typeface="Times New Roman" panose="02020603050405020304" pitchFamily="18" charset="0"/>
                <a:ea typeface="Times New Roman" panose="02020603050405020304" pitchFamily="18" charset="0"/>
              </a:rPr>
              <a:t>XGBoost</a:t>
            </a:r>
            <a:r>
              <a:rPr lang="en-US" sz="1800" dirty="0">
                <a:solidFill>
                  <a:srgbClr val="000000"/>
                </a:solidFill>
                <a:effectLst/>
                <a:latin typeface="Times New Roman" panose="02020603050405020304" pitchFamily="18" charset="0"/>
                <a:ea typeface="Times New Roman" panose="02020603050405020304" pitchFamily="18" charset="0"/>
              </a:rPr>
              <a:t> algorithm, we can analyze the location of the Market, store type and predict future sales. From the proposed approach it was found that for the model evaluation </a:t>
            </a:r>
            <a:r>
              <a:rPr lang="en-US" sz="1800" dirty="0" err="1">
                <a:solidFill>
                  <a:srgbClr val="000000"/>
                </a:solidFill>
                <a:effectLst/>
                <a:latin typeface="Times New Roman" panose="02020603050405020304" pitchFamily="18" charset="0"/>
                <a:ea typeface="Times New Roman" panose="02020603050405020304" pitchFamily="18" charset="0"/>
              </a:rPr>
              <a:t>XGBoost</a:t>
            </a:r>
            <a:r>
              <a:rPr lang="en-US" sz="1800" dirty="0">
                <a:solidFill>
                  <a:srgbClr val="000000"/>
                </a:solidFill>
                <a:effectLst/>
                <a:latin typeface="Times New Roman" panose="02020603050405020304" pitchFamily="18" charset="0"/>
                <a:ea typeface="Times New Roman" panose="02020603050405020304" pitchFamily="18" charset="0"/>
              </a:rPr>
              <a:t> algorithm is more accurate than other models and gives the predicted outcomes.</a:t>
            </a:r>
          </a:p>
          <a:p>
            <a:pPr marL="76200" indent="0">
              <a:buNone/>
            </a:pPr>
            <a:endParaRPr lang="en-US" sz="1800" dirty="0">
              <a:solidFill>
                <a:srgbClr val="000000"/>
              </a:solidFill>
              <a:latin typeface="Times New Roman" panose="02020603050405020304" pitchFamily="18" charset="0"/>
            </a:endParaRPr>
          </a:p>
          <a:p>
            <a:pPr marL="76200" indent="0">
              <a:buNone/>
            </a:pPr>
            <a:endParaRPr lang="en-US" sz="1800" dirty="0">
              <a:solidFill>
                <a:srgbClr val="000000"/>
              </a:solidFill>
              <a:latin typeface="Times New Roman" panose="02020603050405020304" pitchFamily="18" charset="0"/>
            </a:endParaRPr>
          </a:p>
          <a:p>
            <a:pPr marL="76200" indent="0">
              <a:buNone/>
            </a:pPr>
            <a:endParaRPr lang="en-US" sz="1800" dirty="0">
              <a:solidFill>
                <a:srgbClr val="000000"/>
              </a:solidFill>
              <a:latin typeface="Times New Roman" panose="02020603050405020304" pitchFamily="18" charset="0"/>
            </a:endParaRPr>
          </a:p>
          <a:p>
            <a:pPr marL="76200" indent="0">
              <a:buNone/>
            </a:pPr>
            <a:r>
              <a:rPr lang="en-US" sz="1800" dirty="0">
                <a:solidFill>
                  <a:srgbClr val="000000"/>
                </a:solidFill>
                <a:latin typeface="Times New Roman" panose="02020603050405020304" pitchFamily="18" charset="0"/>
              </a:rPr>
              <a:t>   </a:t>
            </a:r>
            <a:endParaRPr lang="en-IN" dirty="0"/>
          </a:p>
        </p:txBody>
      </p:sp>
      <p:graphicFrame>
        <p:nvGraphicFramePr>
          <p:cNvPr id="4" name="Table 3">
            <a:extLst>
              <a:ext uri="{FF2B5EF4-FFF2-40B4-BE49-F238E27FC236}">
                <a16:creationId xmlns:a16="http://schemas.microsoft.com/office/drawing/2014/main" id="{AA88FEA8-5343-9A89-02CF-B6EB3682F9E0}"/>
              </a:ext>
            </a:extLst>
          </p:cNvPr>
          <p:cNvGraphicFramePr>
            <a:graphicFrameLocks noGrp="1"/>
          </p:cNvGraphicFramePr>
          <p:nvPr>
            <p:extLst>
              <p:ext uri="{D42A27DB-BD31-4B8C-83A1-F6EECF244321}">
                <p14:modId xmlns:p14="http://schemas.microsoft.com/office/powerpoint/2010/main" val="2205643282"/>
              </p:ext>
            </p:extLst>
          </p:nvPr>
        </p:nvGraphicFramePr>
        <p:xfrm>
          <a:off x="1976284" y="2901336"/>
          <a:ext cx="5191431" cy="2181108"/>
        </p:xfrm>
        <a:graphic>
          <a:graphicData uri="http://schemas.openxmlformats.org/drawingml/2006/table">
            <a:tbl>
              <a:tblPr firstRow="1" bandRow="1">
                <a:tableStyleId>{9B2FBFC6-B900-4C24-9E69-20D259D9EA4D}</a:tableStyleId>
              </a:tblPr>
              <a:tblGrid>
                <a:gridCol w="1730477">
                  <a:extLst>
                    <a:ext uri="{9D8B030D-6E8A-4147-A177-3AD203B41FA5}">
                      <a16:colId xmlns:a16="http://schemas.microsoft.com/office/drawing/2014/main" val="3049331754"/>
                    </a:ext>
                  </a:extLst>
                </a:gridCol>
                <a:gridCol w="1730477">
                  <a:extLst>
                    <a:ext uri="{9D8B030D-6E8A-4147-A177-3AD203B41FA5}">
                      <a16:colId xmlns:a16="http://schemas.microsoft.com/office/drawing/2014/main" val="3214397889"/>
                    </a:ext>
                  </a:extLst>
                </a:gridCol>
                <a:gridCol w="1730477">
                  <a:extLst>
                    <a:ext uri="{9D8B030D-6E8A-4147-A177-3AD203B41FA5}">
                      <a16:colId xmlns:a16="http://schemas.microsoft.com/office/drawing/2014/main" val="2632845033"/>
                    </a:ext>
                  </a:extLst>
                </a:gridCol>
              </a:tblGrid>
              <a:tr h="489497">
                <a:tc>
                  <a:txBody>
                    <a:bodyPr/>
                    <a:lstStyle/>
                    <a:p>
                      <a:r>
                        <a:rPr lang="en-IN" b="1" dirty="0">
                          <a:latin typeface="Times New Roman" panose="02020603050405020304" pitchFamily="18" charset="0"/>
                          <a:cs typeface="Times New Roman" panose="02020603050405020304" pitchFamily="18" charset="0"/>
                        </a:rPr>
                        <a:t>ALGORITHM USED</a:t>
                      </a:r>
                    </a:p>
                  </a:txBody>
                  <a:tcPr/>
                </a:tc>
                <a:tc>
                  <a:txBody>
                    <a:bodyPr/>
                    <a:lstStyle/>
                    <a:p>
                      <a:r>
                        <a:rPr lang="en-IN" dirty="0"/>
                        <a:t> </a:t>
                      </a:r>
                      <a:r>
                        <a:rPr lang="en-IN" b="1" dirty="0">
                          <a:latin typeface="Times New Roman" panose="02020603050405020304" pitchFamily="18" charset="0"/>
                          <a:cs typeface="Times New Roman" panose="02020603050405020304" pitchFamily="18" charset="0"/>
                        </a:rPr>
                        <a:t>EXISTING MODEL</a:t>
                      </a:r>
                      <a:endParaRPr lang="en-IN" dirty="0"/>
                    </a:p>
                  </a:txBody>
                  <a:tcPr/>
                </a:tc>
                <a:tc>
                  <a:txBody>
                    <a:bodyPr/>
                    <a:lstStyle/>
                    <a:p>
                      <a:r>
                        <a:rPr lang="en-IN" b="1" dirty="0">
                          <a:latin typeface="Times New Roman" panose="02020603050405020304" pitchFamily="18" charset="0"/>
                          <a:cs typeface="Times New Roman" panose="02020603050405020304" pitchFamily="18" charset="0"/>
                        </a:rPr>
                        <a:t>PROPOSED MODEL</a:t>
                      </a:r>
                    </a:p>
                  </a:txBody>
                  <a:tcPr/>
                </a:tc>
                <a:extLst>
                  <a:ext uri="{0D108BD9-81ED-4DB2-BD59-A6C34878D82A}">
                    <a16:rowId xmlns:a16="http://schemas.microsoft.com/office/drawing/2014/main" val="1915764770"/>
                  </a:ext>
                </a:extLst>
              </a:tr>
              <a:tr h="489497">
                <a:tc>
                  <a:txBody>
                    <a:bodyPr/>
                    <a:lstStyle/>
                    <a:p>
                      <a:r>
                        <a:rPr lang="en-IN" dirty="0">
                          <a:latin typeface="Times New Roman" panose="02020603050405020304" pitchFamily="18" charset="0"/>
                          <a:cs typeface="Times New Roman" panose="02020603050405020304" pitchFamily="18" charset="0"/>
                        </a:rPr>
                        <a:t>Linear Regression</a:t>
                      </a:r>
                    </a:p>
                  </a:txBody>
                  <a:tcPr/>
                </a:tc>
                <a:tc>
                  <a:txBody>
                    <a:bodyPr/>
                    <a:lstStyle/>
                    <a:p>
                      <a:r>
                        <a:rPr lang="en-IN" dirty="0"/>
                        <a:t>49.2</a:t>
                      </a:r>
                    </a:p>
                  </a:txBody>
                  <a:tcPr/>
                </a:tc>
                <a:tc>
                  <a:txBody>
                    <a:bodyPr/>
                    <a:lstStyle/>
                    <a:p>
                      <a:r>
                        <a:rPr lang="en-IN" dirty="0"/>
                        <a:t>49.72</a:t>
                      </a:r>
                    </a:p>
                  </a:txBody>
                  <a:tcPr/>
                </a:tc>
                <a:extLst>
                  <a:ext uri="{0D108BD9-81ED-4DB2-BD59-A6C34878D82A}">
                    <a16:rowId xmlns:a16="http://schemas.microsoft.com/office/drawing/2014/main" val="2161041771"/>
                  </a:ext>
                </a:extLst>
              </a:tr>
              <a:tr h="683954">
                <a:tc>
                  <a:txBody>
                    <a:bodyPr/>
                    <a:lstStyle/>
                    <a:p>
                      <a:r>
                        <a:rPr lang="en-IN" dirty="0">
                          <a:latin typeface="Times New Roman" panose="02020603050405020304" pitchFamily="18" charset="0"/>
                          <a:cs typeface="Times New Roman" panose="02020603050405020304" pitchFamily="18" charset="0"/>
                        </a:rPr>
                        <a:t>Random Forest Algorithm</a:t>
                      </a:r>
                    </a:p>
                  </a:txBody>
                  <a:tcPr/>
                </a:tc>
                <a:tc>
                  <a:txBody>
                    <a:bodyPr/>
                    <a:lstStyle/>
                    <a:p>
                      <a:r>
                        <a:rPr lang="en-IN" dirty="0"/>
                        <a:t>60.8</a:t>
                      </a:r>
                    </a:p>
                  </a:txBody>
                  <a:tcPr/>
                </a:tc>
                <a:tc>
                  <a:txBody>
                    <a:bodyPr/>
                    <a:lstStyle/>
                    <a:p>
                      <a:r>
                        <a:rPr lang="en-IN" dirty="0"/>
                        <a:t>60</a:t>
                      </a:r>
                    </a:p>
                  </a:txBody>
                  <a:tcPr/>
                </a:tc>
                <a:extLst>
                  <a:ext uri="{0D108BD9-81ED-4DB2-BD59-A6C34878D82A}">
                    <a16:rowId xmlns:a16="http://schemas.microsoft.com/office/drawing/2014/main" val="1000680596"/>
                  </a:ext>
                </a:extLst>
              </a:tr>
              <a:tr h="489497">
                <a:tc>
                  <a:txBody>
                    <a:bodyPr/>
                    <a:lstStyle/>
                    <a:p>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algorithm</a:t>
                      </a:r>
                    </a:p>
                  </a:txBody>
                  <a:tcPr/>
                </a:tc>
                <a:tc>
                  <a:txBody>
                    <a:bodyPr/>
                    <a:lstStyle/>
                    <a:p>
                      <a:r>
                        <a:rPr lang="en-IN" dirty="0"/>
                        <a:t>-</a:t>
                      </a:r>
                    </a:p>
                  </a:txBody>
                  <a:tcPr/>
                </a:tc>
                <a:tc>
                  <a:txBody>
                    <a:bodyPr/>
                    <a:lstStyle/>
                    <a:p>
                      <a:r>
                        <a:rPr lang="en-IN" dirty="0"/>
                        <a:t>81.71</a:t>
                      </a:r>
                    </a:p>
                  </a:txBody>
                  <a:tcPr/>
                </a:tc>
                <a:extLst>
                  <a:ext uri="{0D108BD9-81ED-4DB2-BD59-A6C34878D82A}">
                    <a16:rowId xmlns:a16="http://schemas.microsoft.com/office/drawing/2014/main" val="2399298427"/>
                  </a:ext>
                </a:extLst>
              </a:tr>
            </a:tbl>
          </a:graphicData>
        </a:graphic>
      </p:graphicFrame>
    </p:spTree>
    <p:extLst>
      <p:ext uri="{BB962C8B-B14F-4D97-AF65-F5344CB8AC3E}">
        <p14:creationId xmlns:p14="http://schemas.microsoft.com/office/powerpoint/2010/main" val="3232454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p:txBody>
      </p:sp>
      <p:sp>
        <p:nvSpPr>
          <p:cNvPr id="197" name="Google Shape;197;p1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sz="2100" b="1" dirty="0">
                <a:latin typeface="Times New Roman"/>
                <a:ea typeface="Times New Roman"/>
                <a:cs typeface="Times New Roman"/>
                <a:sym typeface="Times New Roman"/>
              </a:rPr>
              <a:t> </a:t>
            </a:r>
            <a:r>
              <a:rPr lang="en-US" sz="2100" dirty="0">
                <a:solidFill>
                  <a:srgbClr val="0D0D0D"/>
                </a:solidFill>
                <a:highlight>
                  <a:srgbClr val="FFFFFF"/>
                </a:highlight>
                <a:latin typeface="Times New Roman"/>
                <a:ea typeface="Times New Roman"/>
                <a:cs typeface="Times New Roman"/>
                <a:sym typeface="Times New Roman"/>
              </a:rPr>
              <a:t>Thus the proposed approach accurately detects and predicts the future sales of the market. By using techniques such as LR, RF, and XGB, we can analyze the location of the Market, and store type and predict future sales. From the proposed approach it was found that for the model evaluation XGB algorithm is more accurate than other models and gives the predicted outcomes. This project achieves an accuracy rate of 81% when compared with the existing model it produces the accuracy rate of 60% using Random forest algorithm but in our proposed model we use </a:t>
            </a:r>
            <a:r>
              <a:rPr lang="en-US" sz="2100" dirty="0" err="1">
                <a:solidFill>
                  <a:srgbClr val="0D0D0D"/>
                </a:solidFill>
                <a:highlight>
                  <a:srgbClr val="FFFFFF"/>
                </a:highlight>
                <a:latin typeface="Times New Roman"/>
                <a:ea typeface="Times New Roman"/>
                <a:cs typeface="Times New Roman"/>
                <a:sym typeface="Times New Roman"/>
              </a:rPr>
              <a:t>XGboost</a:t>
            </a:r>
            <a:r>
              <a:rPr lang="en-US" sz="2100" dirty="0">
                <a:solidFill>
                  <a:srgbClr val="0D0D0D"/>
                </a:solidFill>
                <a:highlight>
                  <a:srgbClr val="FFFFFF"/>
                </a:highlight>
                <a:latin typeface="Times New Roman"/>
                <a:ea typeface="Times New Roman"/>
                <a:cs typeface="Times New Roman"/>
                <a:sym typeface="Times New Roman"/>
              </a:rPr>
              <a:t> algorithm to increase the performance of the model by enhancing its accuracy so that there will be an enhanced estimation of the sales of a company. By using this prediction of Market sales we can improve the satisfaction of the customers and optimize the stock levels for profitability.</a:t>
            </a:r>
          </a:p>
          <a:p>
            <a:pPr marL="0" lvl="0" indent="0" algn="just" rtl="0">
              <a:lnSpc>
                <a:spcPct val="115000"/>
              </a:lnSpc>
              <a:spcBef>
                <a:spcPts val="1200"/>
              </a:spcBef>
              <a:spcAft>
                <a:spcPts val="0"/>
              </a:spcAft>
              <a:buClr>
                <a:schemeClr val="dk1"/>
              </a:buClr>
              <a:buSzPts val="1100"/>
              <a:buFont typeface="Arial"/>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a:latin typeface="Times New Roman"/>
                <a:ea typeface="Times New Roman"/>
                <a:cs typeface="Times New Roman"/>
                <a:sym typeface="Times New Roman"/>
              </a:rPr>
              <a:t>FUTURE ENHANCEMENT</a:t>
            </a:r>
            <a:endParaRPr b="1">
              <a:latin typeface="Times New Roman"/>
              <a:ea typeface="Times New Roman"/>
              <a:cs typeface="Times New Roman"/>
              <a:sym typeface="Times New Roman"/>
            </a:endParaRPr>
          </a:p>
        </p:txBody>
      </p:sp>
      <p:sp>
        <p:nvSpPr>
          <p:cNvPr id="204" name="Google Shape;204;p1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marR="142240" lvl="0" indent="-342900" algn="just">
              <a:lnSpc>
                <a:spcPct val="115000"/>
              </a:lnSpc>
              <a:spcBef>
                <a:spcPts val="745"/>
              </a:spcBef>
              <a:spcAft>
                <a:spcPts val="0"/>
              </a:spcAft>
              <a:buFont typeface="Symbol" panose="05050102010706020507" pitchFamily="18" charset="2"/>
              <a:buChar char=""/>
            </a:pPr>
            <a:r>
              <a:rPr lang="en-US" sz="2000" b="1" dirty="0">
                <a:effectLst/>
                <a:latin typeface="Times New Roman" panose="02020603050405020304" pitchFamily="18" charset="0"/>
                <a:ea typeface="Arial MT"/>
                <a:cs typeface="Arial MT"/>
              </a:rPr>
              <a:t>Advanced Algorithms:</a:t>
            </a:r>
            <a:endParaRPr lang="en-IN" sz="2000" dirty="0">
              <a:effectLst/>
              <a:latin typeface="Arial MT"/>
              <a:ea typeface="Arial MT"/>
              <a:cs typeface="Arial MT"/>
            </a:endParaRPr>
          </a:p>
          <a:p>
            <a:pPr marL="728345" indent="-407035" algn="just">
              <a:lnSpc>
                <a:spcPct val="115000"/>
              </a:lnSpc>
              <a:spcBef>
                <a:spcPts val="745"/>
              </a:spcBef>
              <a:spcAft>
                <a:spcPts val="0"/>
              </a:spcAft>
            </a:pPr>
            <a:r>
              <a:rPr lang="en-US" sz="1800" b="1" dirty="0">
                <a:effectLst/>
                <a:latin typeface="Times New Roman" panose="02020603050405020304" pitchFamily="18" charset="0"/>
                <a:ea typeface="Arial MT"/>
                <a:cs typeface="Arial MT"/>
              </a:rPr>
              <a:t>Neural Networks:</a:t>
            </a:r>
            <a:r>
              <a:rPr lang="en-US" sz="1800" dirty="0">
                <a:effectLst/>
                <a:latin typeface="Times New Roman" panose="02020603050405020304" pitchFamily="18" charset="0"/>
                <a:ea typeface="Arial MT"/>
                <a:cs typeface="Arial MT"/>
              </a:rPr>
              <a:t> Experiment with deep learning models, such as LSTM (Long Short-Term Memory) networks, which are well-suited for forecasting.</a:t>
            </a:r>
            <a:endParaRPr lang="en-IN" sz="1800" dirty="0">
              <a:effectLst/>
              <a:latin typeface="Arial MT"/>
              <a:ea typeface="Arial MT"/>
              <a:cs typeface="Arial MT"/>
            </a:endParaRPr>
          </a:p>
          <a:p>
            <a:pPr marL="728345" indent="-407035" algn="just">
              <a:lnSpc>
                <a:spcPct val="115000"/>
              </a:lnSpc>
              <a:spcBef>
                <a:spcPts val="745"/>
              </a:spcBef>
              <a:spcAft>
                <a:spcPts val="0"/>
              </a:spcAft>
            </a:pPr>
            <a:r>
              <a:rPr lang="en-US" sz="1800" b="1" dirty="0">
                <a:effectLst/>
                <a:latin typeface="Times New Roman" panose="02020603050405020304" pitchFamily="18" charset="0"/>
                <a:ea typeface="Arial MT"/>
                <a:cs typeface="Arial MT"/>
              </a:rPr>
              <a:t>Automated Machine Learning (</a:t>
            </a:r>
            <a:r>
              <a:rPr lang="en-US" sz="1800" b="1" dirty="0" err="1">
                <a:effectLst/>
                <a:latin typeface="Times New Roman" panose="02020603050405020304" pitchFamily="18" charset="0"/>
                <a:ea typeface="Arial MT"/>
                <a:cs typeface="Arial MT"/>
              </a:rPr>
              <a:t>AutoML</a:t>
            </a:r>
            <a:r>
              <a:rPr lang="en-US" sz="1800" b="1" dirty="0">
                <a:effectLst/>
                <a:latin typeface="Times New Roman" panose="02020603050405020304" pitchFamily="18" charset="0"/>
                <a:ea typeface="Arial MT"/>
                <a:cs typeface="Arial MT"/>
              </a:rPr>
              <a:t>):</a:t>
            </a:r>
            <a:r>
              <a:rPr lang="en-US" sz="1800" dirty="0">
                <a:effectLst/>
                <a:latin typeface="Times New Roman" panose="02020603050405020304" pitchFamily="18" charset="0"/>
                <a:ea typeface="Arial MT"/>
                <a:cs typeface="Arial MT"/>
              </a:rPr>
              <a:t> Use </a:t>
            </a:r>
            <a:r>
              <a:rPr lang="en-US" sz="1800" dirty="0" err="1">
                <a:effectLst/>
                <a:latin typeface="Times New Roman" panose="02020603050405020304" pitchFamily="18" charset="0"/>
                <a:ea typeface="Arial MT"/>
                <a:cs typeface="Arial MT"/>
              </a:rPr>
              <a:t>AutoML</a:t>
            </a:r>
            <a:r>
              <a:rPr lang="en-US" sz="1800" dirty="0">
                <a:effectLst/>
                <a:latin typeface="Times New Roman" panose="02020603050405020304" pitchFamily="18" charset="0"/>
                <a:ea typeface="Arial MT"/>
                <a:cs typeface="Arial MT"/>
              </a:rPr>
              <a:t> tools to automate the model selection and hyperparameter tuning process.</a:t>
            </a:r>
            <a:endParaRPr lang="en-IN" sz="1800" dirty="0">
              <a:effectLst/>
              <a:latin typeface="Arial MT"/>
              <a:ea typeface="Arial MT"/>
              <a:cs typeface="Arial MT"/>
            </a:endParaRPr>
          </a:p>
          <a:p>
            <a:pPr marL="76200" indent="0" algn="just">
              <a:lnSpc>
                <a:spcPct val="115000"/>
              </a:lnSpc>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en-US" sz="2000" b="1" dirty="0">
                <a:effectLst/>
                <a:latin typeface="Times New Roman" panose="02020603050405020304" pitchFamily="18" charset="0"/>
                <a:ea typeface="Arial MT"/>
                <a:cs typeface="Arial MT"/>
              </a:rPr>
              <a:t>Evaluation Metrics</a:t>
            </a:r>
            <a:r>
              <a:rPr lang="en-US" sz="1800" dirty="0">
                <a:effectLst/>
                <a:latin typeface="Times New Roman" panose="02020603050405020304" pitchFamily="18" charset="0"/>
                <a:ea typeface="Arial MT"/>
                <a:cs typeface="Arial MT"/>
              </a:rPr>
              <a:t>: Use additional evaluation metrics such as MAE (Mean Absolute Error), MAPE (Mean Absolute Percentage Error), and R² score for a comprehensive assessment of the model performance in model evaluation and validation.</a:t>
            </a:r>
            <a:endParaRPr lang="en-IN" sz="1800" dirty="0">
              <a:effectLst/>
              <a:latin typeface="Arial MT"/>
              <a:ea typeface="Arial MT"/>
              <a:cs typeface="Arial MT"/>
            </a:endParaRPr>
          </a:p>
          <a:p>
            <a:pPr marL="914400" marR="330200" lvl="0" indent="0" algn="just" rtl="0">
              <a:lnSpc>
                <a:spcPct val="115000"/>
              </a:lnSpc>
              <a:spcBef>
                <a:spcPts val="0"/>
              </a:spcBef>
              <a:spcAft>
                <a:spcPts val="0"/>
              </a:spcAft>
              <a:buNone/>
            </a:pPr>
            <a:endParaRPr lang="en-IN" sz="1800" dirty="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a:latin typeface="Times New Roman"/>
                <a:ea typeface="Times New Roman"/>
                <a:cs typeface="Times New Roman"/>
                <a:sym typeface="Times New Roman"/>
              </a:rPr>
              <a:t>REFERENCES</a:t>
            </a:r>
            <a:endParaRPr b="1">
              <a:latin typeface="Times New Roman"/>
              <a:ea typeface="Times New Roman"/>
              <a:cs typeface="Times New Roman"/>
              <a:sym typeface="Times New Roman"/>
            </a:endParaRPr>
          </a:p>
        </p:txBody>
      </p:sp>
      <p:sp>
        <p:nvSpPr>
          <p:cNvPr id="211" name="Google Shape;211;p15"/>
          <p:cNvSpPr txBox="1">
            <a:spLocks noGrp="1"/>
          </p:cNvSpPr>
          <p:nvPr>
            <p:ph type="body" idx="1"/>
          </p:nvPr>
        </p:nvSpPr>
        <p:spPr>
          <a:xfrm>
            <a:off x="89000" y="914400"/>
            <a:ext cx="8763000" cy="53340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0"/>
              </a:spcBef>
              <a:spcAft>
                <a:spcPts val="0"/>
              </a:spcAft>
              <a:buClr>
                <a:schemeClr val="dk1"/>
              </a:buClr>
              <a:buSzPts val="1100"/>
              <a:buFont typeface="Arial"/>
              <a:buNone/>
            </a:pPr>
            <a:r>
              <a:rPr lang="en-US" sz="1800" dirty="0">
                <a:latin typeface="Times New Roman"/>
                <a:ea typeface="Times New Roman"/>
                <a:cs typeface="Times New Roman"/>
                <a:sym typeface="Times New Roman"/>
              </a:rPr>
              <a:t>[1]</a:t>
            </a:r>
            <a:r>
              <a:rPr lang="en-US" sz="1800" dirty="0">
                <a:solidFill>
                  <a:srgbClr val="333333"/>
                </a:solidFill>
                <a:effectLst/>
                <a:highlight>
                  <a:srgbClr val="FFFFFF"/>
                </a:highlight>
                <a:latin typeface="Times New Roman" panose="02020603050405020304" pitchFamily="18" charset="0"/>
                <a:ea typeface="Times New Roman" panose="02020603050405020304" pitchFamily="18" charset="0"/>
              </a:rPr>
              <a:t>  </a:t>
            </a:r>
            <a:r>
              <a:rPr lang="en-US" sz="1800" dirty="0">
                <a:solidFill>
                  <a:schemeClr val="tx1"/>
                </a:solidFill>
                <a:effectLst/>
                <a:highlight>
                  <a:srgbClr val="FFFFFF"/>
                </a:highlight>
                <a:latin typeface="Times New Roman" panose="02020603050405020304" pitchFamily="18" charset="0"/>
                <a:ea typeface="Times New Roman" panose="02020603050405020304" pitchFamily="18" charset="0"/>
              </a:rPr>
              <a:t>M. Singh, B. </a:t>
            </a:r>
            <a:r>
              <a:rPr lang="en-US" sz="1800" dirty="0" err="1">
                <a:solidFill>
                  <a:schemeClr val="tx1"/>
                </a:solidFill>
                <a:effectLst/>
                <a:highlight>
                  <a:srgbClr val="FFFFFF"/>
                </a:highlight>
                <a:latin typeface="Times New Roman" panose="02020603050405020304" pitchFamily="18" charset="0"/>
                <a:ea typeface="Times New Roman" panose="02020603050405020304" pitchFamily="18" charset="0"/>
              </a:rPr>
              <a:t>Ghutla</a:t>
            </a:r>
            <a:r>
              <a:rPr lang="en-US" sz="1800" dirty="0">
                <a:solidFill>
                  <a:schemeClr val="tx1"/>
                </a:solidFill>
                <a:effectLst/>
                <a:highlight>
                  <a:srgbClr val="FFFFFF"/>
                </a:highlight>
                <a:latin typeface="Times New Roman" panose="02020603050405020304" pitchFamily="18" charset="0"/>
                <a:ea typeface="Times New Roman" panose="02020603050405020304" pitchFamily="18" charset="0"/>
              </a:rPr>
              <a:t>, R. Lilo Jnr, A. F. S. Mohammed, and M. A. Rashid, "</a:t>
            </a:r>
            <a:r>
              <a:rPr lang="en-US" sz="1800" u="sng" dirty="0">
                <a:solidFill>
                  <a:schemeClr val="tx1"/>
                </a:solidFill>
                <a:effectLst/>
                <a:highlight>
                  <a:srgbClr val="FFFFFF"/>
                </a:highligh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Walmart's Sales Data Analysis Big Data Analytics Perspective</a:t>
            </a:r>
            <a:r>
              <a:rPr lang="en-US" sz="1800" dirty="0">
                <a:solidFill>
                  <a:schemeClr val="tx1"/>
                </a:solidFill>
                <a:effectLst/>
                <a:highlight>
                  <a:srgbClr val="FFFFFF"/>
                </a:highlight>
                <a:latin typeface="Times New Roman" panose="02020603050405020304" pitchFamily="18" charset="0"/>
                <a:ea typeface="Times New Roman" panose="02020603050405020304" pitchFamily="18" charset="0"/>
              </a:rPr>
              <a:t>," 2022 4th (APWC on CSE), Mana Island, Fiji, 2022.</a:t>
            </a:r>
          </a:p>
          <a:p>
            <a:pPr marL="0" lvl="0" indent="0" algn="just" rtl="0">
              <a:lnSpc>
                <a:spcPct val="115000"/>
              </a:lnSpc>
              <a:spcBef>
                <a:spcPts val="0"/>
              </a:spcBef>
              <a:spcAft>
                <a:spcPts val="0"/>
              </a:spcAft>
              <a:buClr>
                <a:schemeClr val="dk1"/>
              </a:buClr>
              <a:buSzPts val="1100"/>
              <a:buFont typeface="Arial"/>
              <a:buNone/>
            </a:pPr>
            <a:endParaRPr lang="en-US" sz="1800" dirty="0">
              <a:solidFill>
                <a:schemeClr val="tx1"/>
              </a:solidFill>
              <a:latin typeface="Times New Roman"/>
              <a:ea typeface="Times New Roman"/>
              <a:cs typeface="Times New Roman"/>
              <a:sym typeface="Times New Roman"/>
            </a:endParaRPr>
          </a:p>
          <a:p>
            <a:pPr marL="0" indent="0" algn="just">
              <a:lnSpc>
                <a:spcPct val="115000"/>
              </a:lnSpc>
              <a:spcBef>
                <a:spcPts val="0"/>
              </a:spcBef>
              <a:buSzPts val="1100"/>
              <a:buNone/>
            </a:pPr>
            <a:r>
              <a:rPr lang="en-US" sz="1800" dirty="0">
                <a:latin typeface="Times New Roman"/>
                <a:ea typeface="Times New Roman"/>
                <a:cs typeface="Times New Roman"/>
                <a:sym typeface="Times New Roman"/>
              </a:rPr>
              <a:t>[2] V Upadhyay, D Rathod,” Location-Based Crime Prediction Using Multiclass Classification Data Mining Techniques”,2022.</a:t>
            </a:r>
          </a:p>
          <a:p>
            <a:pPr marL="0" lvl="0" indent="0" algn="just" rtl="0">
              <a:lnSpc>
                <a:spcPct val="115000"/>
              </a:lnSpc>
              <a:spcBef>
                <a:spcPts val="0"/>
              </a:spcBef>
              <a:spcAft>
                <a:spcPts val="0"/>
              </a:spcAft>
              <a:buClr>
                <a:schemeClr val="dk1"/>
              </a:buClr>
              <a:buSzPts val="1100"/>
              <a:buFont typeface="Arial"/>
              <a:buNone/>
            </a:pPr>
            <a:endParaRPr lang="en-US" sz="1800" dirty="0">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800" dirty="0">
                <a:latin typeface="Times New Roman"/>
                <a:ea typeface="Times New Roman"/>
                <a:cs typeface="Times New Roman"/>
                <a:sym typeface="Times New Roman"/>
              </a:rPr>
              <a:t>[3]</a:t>
            </a:r>
            <a:r>
              <a:rPr lang="en-US" sz="1800" u="sng" dirty="0">
                <a:solidFill>
                  <a:srgbClr val="0000FF"/>
                </a:solidFill>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1800" u="sng" dirty="0">
                <a:solidFill>
                  <a:schemeClr val="tx1"/>
                </a:solidFill>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Business Transformation Using Big Data Analytics and Machine Learning</a:t>
            </a:r>
            <a:r>
              <a:rPr lang="en-US" sz="1800" dirty="0">
                <a:solidFill>
                  <a:schemeClr val="tx1"/>
                </a:solidFill>
                <a:effectLst/>
                <a:latin typeface="Times New Roman" panose="02020603050405020304" pitchFamily="18" charset="0"/>
                <a:ea typeface="Times New Roman" panose="02020603050405020304" pitchFamily="18" charset="0"/>
              </a:rPr>
              <a:t> P Majumdar, S Mitra -,2022.</a:t>
            </a:r>
          </a:p>
          <a:p>
            <a:pPr marL="0" lvl="0" indent="0" algn="just" rtl="0">
              <a:lnSpc>
                <a:spcPct val="115000"/>
              </a:lnSpc>
              <a:spcBef>
                <a:spcPts val="0"/>
              </a:spcBef>
              <a:spcAft>
                <a:spcPts val="0"/>
              </a:spcAft>
              <a:buClr>
                <a:schemeClr val="dk1"/>
              </a:buClr>
              <a:buSzPts val="1100"/>
              <a:buFont typeface="Arial"/>
              <a:buNone/>
            </a:pPr>
            <a:endParaRPr lang="en-US" sz="1800" dirty="0">
              <a:solidFill>
                <a:schemeClr val="tx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800" dirty="0">
                <a:latin typeface="Times New Roman"/>
                <a:ea typeface="Times New Roman"/>
                <a:cs typeface="Times New Roman"/>
                <a:sym typeface="Times New Roman"/>
              </a:rPr>
              <a:t>[4]</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rPr>
              <a:t>D Irfan, X Tang, V Narayanan, PK Mall . ‘</a:t>
            </a:r>
            <a:r>
              <a:rPr lang="en-US" sz="1800" u="sng" dirty="0">
                <a:solidFill>
                  <a:schemeClr val="tx1"/>
                </a:solidFill>
                <a:effectLst/>
                <a:latin typeface="Times New Roman" panose="02020603050405020304" pitchFamily="18" charset="0"/>
                <a:ea typeface="Times New Roman" panose="02020603050405020304" pitchFamily="18" charset="0"/>
                <a:hlinkClick r:id="rId5">
                  <a:extLst>
                    <a:ext uri="{A12FA001-AC4F-418D-AE19-62706E023703}">
                      <ahyp:hlinkClr xmlns:ahyp="http://schemas.microsoft.com/office/drawing/2018/hyperlinkcolor" val="tx"/>
                    </a:ext>
                  </a:extLst>
                </a:hlinkClick>
              </a:rPr>
              <a:t>Prediction of quality food sale in mart using the AI-based TOR method</a:t>
            </a:r>
            <a:r>
              <a:rPr lang="en-US" sz="1800" dirty="0">
                <a:solidFill>
                  <a:schemeClr val="tx1"/>
                </a:solidFill>
                <a:effectLst/>
                <a:latin typeface="Times New Roman" panose="02020603050405020304" pitchFamily="18" charset="0"/>
                <a:ea typeface="Times New Roman" panose="02020603050405020304" pitchFamily="18" charset="0"/>
              </a:rPr>
              <a:t>”, 2022.</a:t>
            </a:r>
          </a:p>
          <a:p>
            <a:pPr marL="0" lvl="0" indent="0" algn="just" rtl="0">
              <a:lnSpc>
                <a:spcPct val="115000"/>
              </a:lnSpc>
              <a:spcBef>
                <a:spcPts val="0"/>
              </a:spcBef>
              <a:spcAft>
                <a:spcPts val="0"/>
              </a:spcAft>
              <a:buClr>
                <a:schemeClr val="dk1"/>
              </a:buClr>
              <a:buSzPts val="1100"/>
              <a:buFont typeface="Arial"/>
              <a:buNone/>
            </a:pPr>
            <a:endParaRPr lang="en-US" sz="1800" dirty="0">
              <a:solidFill>
                <a:schemeClr val="tx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800" dirty="0">
                <a:latin typeface="Times New Roman"/>
                <a:ea typeface="Times New Roman"/>
                <a:cs typeface="Times New Roman"/>
                <a:sym typeface="Times New Roman"/>
              </a:rPr>
              <a:t>[5] </a:t>
            </a:r>
            <a:r>
              <a:rPr lang="en-US" sz="1800" dirty="0">
                <a:solidFill>
                  <a:schemeClr val="tx1"/>
                </a:solidFill>
                <a:effectLst/>
                <a:latin typeface="Times New Roman" panose="02020603050405020304" pitchFamily="18" charset="0"/>
                <a:ea typeface="Times New Roman" panose="02020603050405020304" pitchFamily="18" charset="0"/>
                <a:hlinkClick r:id="rId6">
                  <a:extLst>
                    <a:ext uri="{A12FA001-AC4F-418D-AE19-62706E023703}">
                      <ahyp:hlinkClr xmlns:ahyp="http://schemas.microsoft.com/office/drawing/2018/hyperlinkcolor" val="tx"/>
                    </a:ext>
                  </a:extLst>
                </a:hlinkClick>
              </a:rPr>
              <a:t>HV Ramachandra</a:t>
            </a:r>
            <a:r>
              <a:rPr lang="en-US" sz="1800" dirty="0">
                <a:solidFill>
                  <a:schemeClr val="tx1"/>
                </a:solidFill>
                <a:effectLst/>
                <a:latin typeface="Times New Roman" panose="02020603050405020304" pitchFamily="18" charset="0"/>
                <a:ea typeface="Times New Roman" panose="02020603050405020304" pitchFamily="18" charset="0"/>
              </a:rPr>
              <a:t>, </a:t>
            </a:r>
            <a:r>
              <a:rPr lang="en-US" sz="1800" dirty="0">
                <a:solidFill>
                  <a:schemeClr val="tx1"/>
                </a:solidFill>
                <a:effectLst/>
                <a:latin typeface="Times New Roman" panose="02020603050405020304" pitchFamily="18" charset="0"/>
                <a:ea typeface="Times New Roman" panose="02020603050405020304" pitchFamily="18" charset="0"/>
                <a:hlinkClick r:id="rId7">
                  <a:extLst>
                    <a:ext uri="{A12FA001-AC4F-418D-AE19-62706E023703}">
                      <ahyp:hlinkClr xmlns:ahyp="http://schemas.microsoft.com/office/drawing/2018/hyperlinkcolor" val="tx"/>
                    </a:ext>
                  </a:extLst>
                </a:hlinkClick>
              </a:rPr>
              <a:t>H Patil</a:t>
            </a:r>
            <a:r>
              <a:rPr lang="en-US" sz="1800" dirty="0">
                <a:solidFill>
                  <a:schemeClr val="tx1"/>
                </a:solidFill>
                <a:effectLst/>
                <a:latin typeface="Times New Roman" panose="02020603050405020304" pitchFamily="18" charset="0"/>
                <a:ea typeface="Times New Roman" panose="02020603050405020304" pitchFamily="18" charset="0"/>
              </a:rPr>
              <a:t>,” </a:t>
            </a:r>
            <a:r>
              <a:rPr lang="en-US" sz="1800" u="sng" dirty="0">
                <a:solidFill>
                  <a:schemeClr val="tx1"/>
                </a:solidFill>
                <a:effectLst/>
                <a:latin typeface="Times New Roman" panose="02020603050405020304" pitchFamily="18" charset="0"/>
                <a:ea typeface="Times New Roman" panose="02020603050405020304" pitchFamily="18" charset="0"/>
                <a:hlinkClick r:id="rId8">
                  <a:extLst>
                    <a:ext uri="{A12FA001-AC4F-418D-AE19-62706E023703}">
                      <ahyp:hlinkClr xmlns:ahyp="http://schemas.microsoft.com/office/drawing/2018/hyperlinkcolor" val="tx"/>
                    </a:ext>
                  </a:extLst>
                </a:hlinkClick>
              </a:rPr>
              <a:t>Machine learning application for black Friday sales prediction framework</a:t>
            </a:r>
            <a:r>
              <a:rPr lang="en-US" sz="1800" dirty="0">
                <a:solidFill>
                  <a:schemeClr val="tx1"/>
                </a:solidFill>
                <a:effectLst/>
                <a:latin typeface="Times New Roman" panose="02020603050405020304" pitchFamily="18" charset="0"/>
                <a:ea typeface="Times New Roman" panose="02020603050405020304" pitchFamily="18" charset="0"/>
              </a:rPr>
              <a:t>”, 2021.</a:t>
            </a:r>
          </a:p>
          <a:p>
            <a:pPr marL="0" lvl="0" indent="0" algn="just" rtl="0">
              <a:lnSpc>
                <a:spcPct val="115000"/>
              </a:lnSpc>
              <a:spcBef>
                <a:spcPts val="0"/>
              </a:spcBef>
              <a:spcAft>
                <a:spcPts val="0"/>
              </a:spcAft>
              <a:buClr>
                <a:schemeClr val="dk1"/>
              </a:buClr>
              <a:buSzPts val="1100"/>
              <a:buFont typeface="Arial"/>
              <a:buNone/>
            </a:pPr>
            <a:endParaRPr lang="en-US" sz="1800" b="1" dirty="0">
              <a:solidFill>
                <a:schemeClr val="tx1"/>
              </a:solidFill>
              <a:latin typeface="Times New Roman" panose="02020603050405020304" pitchFamily="18" charset="0"/>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lang="en-US" sz="1800" b="1" dirty="0">
              <a:solidFill>
                <a:schemeClr val="tx1"/>
              </a:solidFill>
              <a:latin typeface="Times New Roman" panose="02020603050405020304" pitchFamily="18" charset="0"/>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lang="en-US" sz="1800" b="1" dirty="0">
              <a:solidFill>
                <a:schemeClr val="tx1"/>
              </a:solidFill>
              <a:latin typeface="Times New Roman" panose="02020603050405020304" pitchFamily="18" charset="0"/>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lang="en-US" sz="1800" b="1" dirty="0">
              <a:solidFill>
                <a:schemeClr val="tx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A356-8693-872D-432B-EABABDD907D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Text Placeholder 2">
            <a:extLst>
              <a:ext uri="{FF2B5EF4-FFF2-40B4-BE49-F238E27FC236}">
                <a16:creationId xmlns:a16="http://schemas.microsoft.com/office/drawing/2014/main" id="{5653791B-C0E8-4143-F484-70A05208C062}"/>
              </a:ext>
            </a:extLst>
          </p:cNvPr>
          <p:cNvSpPr>
            <a:spLocks noGrp="1"/>
          </p:cNvSpPr>
          <p:nvPr>
            <p:ph type="body" idx="1"/>
          </p:nvPr>
        </p:nvSpPr>
        <p:spPr/>
        <p:txBody>
          <a:bodyPr/>
          <a:lstStyle/>
          <a:p>
            <a:pPr marL="76200" indent="0">
              <a:buNone/>
            </a:pPr>
            <a:r>
              <a:rPr lang="en-IN" dirty="0">
                <a:latin typeface="Times New Roman" panose="02020603050405020304" pitchFamily="18" charset="0"/>
                <a:cs typeface="Times New Roman" panose="02020603050405020304" pitchFamily="18" charset="0"/>
              </a:rPr>
              <a:t>[6] </a:t>
            </a:r>
            <a:r>
              <a:rPr lang="en-US" sz="1800" dirty="0">
                <a:solidFill>
                  <a:schemeClr val="tx1"/>
                </a:solidFill>
                <a:effectLst/>
                <a:latin typeface="Times New Roman" panose="02020603050405020304" pitchFamily="18" charset="0"/>
                <a:ea typeface="Times New Roman" panose="02020603050405020304" pitchFamily="18" charset="0"/>
              </a:rPr>
              <a:t>P </a:t>
            </a:r>
            <a:r>
              <a:rPr lang="en-US" sz="1800" dirty="0" err="1">
                <a:solidFill>
                  <a:schemeClr val="tx1"/>
                </a:solidFill>
                <a:effectLst/>
                <a:latin typeface="Times New Roman" panose="02020603050405020304" pitchFamily="18" charset="0"/>
                <a:ea typeface="Times New Roman" panose="02020603050405020304" pitchFamily="18" charset="0"/>
              </a:rPr>
              <a:t>Kaunchi</a:t>
            </a:r>
            <a:r>
              <a:rPr lang="en-US" sz="1800" dirty="0">
                <a:solidFill>
                  <a:schemeClr val="tx1"/>
                </a:solidFill>
                <a:effectLst/>
                <a:latin typeface="Times New Roman" panose="02020603050405020304" pitchFamily="18" charset="0"/>
                <a:ea typeface="Times New Roman" panose="02020603050405020304" pitchFamily="18" charset="0"/>
              </a:rPr>
              <a:t>, </a:t>
            </a:r>
            <a:r>
              <a:rPr lang="en-US" sz="1800" u="sng" dirty="0">
                <a:solidFill>
                  <a:schemeClr val="tx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T Jadhav</a:t>
            </a:r>
            <a:r>
              <a:rPr lang="en-US" sz="1800" dirty="0">
                <a:solidFill>
                  <a:schemeClr val="tx1"/>
                </a:solidFill>
                <a:effectLst/>
                <a:latin typeface="Times New Roman" panose="02020603050405020304" pitchFamily="18" charset="0"/>
                <a:ea typeface="Times New Roman" panose="02020603050405020304" pitchFamily="18" charset="0"/>
              </a:rPr>
              <a:t>, </a:t>
            </a:r>
            <a:r>
              <a:rPr lang="en-US" sz="1800" u="sng" dirty="0">
                <a:solidFill>
                  <a:schemeClr val="tx1"/>
                </a:solidFill>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Y</a:t>
            </a:r>
            <a:r>
              <a:rPr lang="en-US" sz="1800" u="sng" dirty="0">
                <a:solidFill>
                  <a:srgbClr val="0000FF"/>
                </a:solidFill>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 </a:t>
            </a:r>
            <a:r>
              <a:rPr lang="en-US" sz="1800" u="sng" dirty="0" err="1">
                <a:solidFill>
                  <a:schemeClr val="tx1"/>
                </a:solidFill>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Dandawate</a:t>
            </a:r>
            <a:r>
              <a:rPr lang="en-US" sz="1800" dirty="0">
                <a:solidFill>
                  <a:schemeClr val="tx1"/>
                </a:solidFill>
                <a:effectLst/>
                <a:latin typeface="Times New Roman" panose="02020603050405020304" pitchFamily="18" charset="0"/>
                <a:ea typeface="Times New Roman" panose="02020603050405020304" pitchFamily="18" charset="0"/>
              </a:rPr>
              <a:t>. “</a:t>
            </a:r>
            <a:r>
              <a:rPr lang="en-US" sz="1800" u="sng" dirty="0">
                <a:solidFill>
                  <a:schemeClr val="tx1"/>
                </a:solidFill>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Future sales prediction for Indian products using convolutional neural network-long short term memory</a:t>
            </a:r>
            <a:r>
              <a:rPr lang="en-US" sz="1800" dirty="0">
                <a:solidFill>
                  <a:schemeClr val="tx1"/>
                </a:solidFill>
                <a:effectLst/>
                <a:latin typeface="Times New Roman" panose="02020603050405020304" pitchFamily="18" charset="0"/>
                <a:ea typeface="Times New Roman" panose="02020603050405020304" pitchFamily="18" charset="0"/>
              </a:rPr>
              <a:t>”, 2021.</a:t>
            </a:r>
          </a:p>
          <a:p>
            <a:pPr marL="76200" indent="0">
              <a:buNone/>
            </a:pPr>
            <a:endParaRPr lang="en-US" sz="1800" dirty="0">
              <a:solidFill>
                <a:schemeClr val="tx1"/>
              </a:solidFill>
              <a:latin typeface="Times New Roman" panose="02020603050405020304" pitchFamily="18" charset="0"/>
            </a:endParaRPr>
          </a:p>
          <a:p>
            <a:pPr marL="77470" indent="0" algn="just">
              <a:lnSpc>
                <a:spcPct val="115000"/>
              </a:lnSpc>
              <a:buNone/>
            </a:pPr>
            <a:r>
              <a:rPr lang="en-US" sz="1800" dirty="0">
                <a:solidFill>
                  <a:schemeClr val="tx1"/>
                </a:solidFill>
                <a:latin typeface="Times New Roman" panose="02020603050405020304" pitchFamily="18" charset="0"/>
              </a:rPr>
              <a:t>[7] </a:t>
            </a:r>
            <a:r>
              <a:rPr lang="en-US" sz="1800" b="0" dirty="0">
                <a:solidFill>
                  <a:schemeClr val="tx1"/>
                </a:solidFill>
                <a:effectLst/>
                <a:highlight>
                  <a:srgbClr val="FFFFFF"/>
                </a:highlight>
                <a:latin typeface="Times New Roman" panose="02020603050405020304" pitchFamily="18" charset="0"/>
                <a:ea typeface="Times New Roman" panose="02020603050405020304" pitchFamily="18" charset="0"/>
              </a:rPr>
              <a:t>MA </a:t>
            </a:r>
            <a:r>
              <a:rPr lang="en-US" sz="1800" b="0" dirty="0" err="1">
                <a:solidFill>
                  <a:schemeClr val="tx1"/>
                </a:solidFill>
                <a:effectLst/>
                <a:highlight>
                  <a:srgbClr val="FFFFFF"/>
                </a:highlight>
                <a:latin typeface="Times New Roman" panose="02020603050405020304" pitchFamily="18" charset="0"/>
                <a:ea typeface="Times New Roman" panose="02020603050405020304" pitchFamily="18" charset="0"/>
              </a:rPr>
              <a:t>Scarpati</a:t>
            </a:r>
            <a:r>
              <a:rPr lang="en-US" sz="1800" b="0" dirty="0">
                <a:solidFill>
                  <a:schemeClr val="tx1"/>
                </a:solidFill>
                <a:effectLst/>
                <a:highlight>
                  <a:srgbClr val="FFFFFF"/>
                </a:highlight>
                <a:latin typeface="Times New Roman" panose="02020603050405020304" pitchFamily="18" charset="0"/>
                <a:ea typeface="Times New Roman" panose="02020603050405020304" pitchFamily="18" charset="0"/>
              </a:rPr>
              <a:t>, A </a:t>
            </a:r>
            <a:r>
              <a:rPr lang="en-US" sz="1800" b="0" dirty="0" err="1">
                <a:solidFill>
                  <a:schemeClr val="tx1"/>
                </a:solidFill>
                <a:effectLst/>
                <a:highlight>
                  <a:srgbClr val="FFFFFF"/>
                </a:highlight>
                <a:latin typeface="Times New Roman" panose="02020603050405020304" pitchFamily="18" charset="0"/>
                <a:ea typeface="Times New Roman" panose="02020603050405020304" pitchFamily="18" charset="0"/>
              </a:rPr>
              <a:t>Krowitz</a:t>
            </a:r>
            <a:r>
              <a:rPr lang="en-US" sz="1800" b="0" dirty="0">
                <a:solidFill>
                  <a:schemeClr val="tx1"/>
                </a:solidFill>
                <a:effectLst/>
                <a:highlight>
                  <a:srgbClr val="FFFFFF"/>
                </a:highlight>
                <a:latin typeface="Times New Roman" panose="02020603050405020304" pitchFamily="18" charset="0"/>
                <a:ea typeface="Times New Roman" panose="02020603050405020304" pitchFamily="18" charset="0"/>
              </a:rPr>
              <a:t>, M </a:t>
            </a:r>
            <a:r>
              <a:rPr lang="en-US" sz="1800" b="0" dirty="0" err="1">
                <a:solidFill>
                  <a:schemeClr val="tx1"/>
                </a:solidFill>
                <a:effectLst/>
                <a:highlight>
                  <a:srgbClr val="FFFFFF"/>
                </a:highlight>
                <a:latin typeface="Times New Roman" panose="02020603050405020304" pitchFamily="18" charset="0"/>
                <a:ea typeface="Times New Roman" panose="02020603050405020304" pitchFamily="18" charset="0"/>
              </a:rPr>
              <a:t>Tapp</a:t>
            </a:r>
            <a:r>
              <a:rPr lang="en-US" sz="1800" b="0" dirty="0">
                <a:solidFill>
                  <a:schemeClr val="tx1"/>
                </a:solidFill>
                <a:effectLst/>
                <a:highlight>
                  <a:srgbClr val="FFFFFF"/>
                </a:highlight>
                <a:latin typeface="Times New Roman" panose="02020603050405020304" pitchFamily="18" charset="0"/>
                <a:ea typeface="Times New Roman" panose="02020603050405020304" pitchFamily="18" charset="0"/>
              </a:rPr>
              <a:t>,” </a:t>
            </a:r>
            <a:r>
              <a:rPr lang="en-US" sz="1800" b="0" u="none" strike="noStrike" dirty="0">
                <a:solidFill>
                  <a:schemeClr val="tx1"/>
                </a:solidFill>
                <a:effectLst/>
                <a:highlight>
                  <a:srgbClr val="FFFFFF"/>
                </a:highlight>
                <a:latin typeface="Times New Roman" panose="02020603050405020304" pitchFamily="18" charset="0"/>
                <a:ea typeface="Times New Roman" panose="02020603050405020304" pitchFamily="18" charset="0"/>
                <a:hlinkClick r:id="rId5">
                  <a:extLst>
                    <a:ext uri="{A12FA001-AC4F-418D-AE19-62706E023703}">
                      <ahyp:hlinkClr xmlns:ahyp="http://schemas.microsoft.com/office/drawing/2018/hyperlinkcolor" val="tx"/>
                    </a:ext>
                  </a:extLst>
                </a:hlinkClick>
              </a:rPr>
              <a:t>Using machine learning to predict retail business volume</a:t>
            </a:r>
            <a:r>
              <a:rPr lang="en-US" sz="1800" b="0" dirty="0">
                <a:solidFill>
                  <a:schemeClr val="tx1"/>
                </a:solidFill>
                <a:effectLst/>
                <a:highlight>
                  <a:srgbClr val="FFFFFF"/>
                </a:highlight>
                <a:latin typeface="Times New Roman" panose="02020603050405020304" pitchFamily="18" charset="0"/>
                <a:ea typeface="Times New Roman" panose="02020603050405020304" pitchFamily="18" charset="0"/>
              </a:rPr>
              <a:t>”, US Patent 11,068,916, 2021.</a:t>
            </a:r>
          </a:p>
          <a:p>
            <a:pPr marL="77470" indent="0" algn="just">
              <a:lnSpc>
                <a:spcPct val="115000"/>
              </a:lnSpc>
              <a:buNone/>
            </a:pPr>
            <a:endParaRPr lang="en-IN" sz="1800" b="1" dirty="0">
              <a:solidFill>
                <a:schemeClr val="tx1"/>
              </a:solidFill>
              <a:effectLst/>
              <a:highlight>
                <a:srgbClr val="FFFFFF"/>
              </a:highlight>
              <a:latin typeface="Times New Roman" panose="02020603050405020304" pitchFamily="18" charset="0"/>
              <a:ea typeface="Times New Roman" panose="02020603050405020304" pitchFamily="18" charset="0"/>
            </a:endParaRPr>
          </a:p>
          <a:p>
            <a:pPr marL="0" indent="0" algn="just">
              <a:lnSpc>
                <a:spcPct val="115000"/>
              </a:lnSpc>
              <a:buNone/>
            </a:pPr>
            <a:r>
              <a:rPr lang="en-US" sz="1800" dirty="0">
                <a:effectLst/>
                <a:latin typeface="Times New Roman" panose="02020603050405020304" pitchFamily="18" charset="0"/>
                <a:ea typeface="Times New Roman" panose="02020603050405020304" pitchFamily="18" charset="0"/>
              </a:rPr>
              <a:t>  [8] </a:t>
            </a:r>
            <a:r>
              <a:rPr lang="en-US" sz="1800" dirty="0">
                <a:solidFill>
                  <a:schemeClr val="tx1"/>
                </a:solidFill>
                <a:effectLst/>
                <a:latin typeface="Times New Roman" panose="02020603050405020304" pitchFamily="18" charset="0"/>
                <a:ea typeface="Times New Roman" panose="02020603050405020304" pitchFamily="18" charset="0"/>
              </a:rPr>
              <a:t>PS Smirnov, </a:t>
            </a:r>
            <a:r>
              <a:rPr lang="en-US" sz="1800" u="sng" dirty="0">
                <a:solidFill>
                  <a:schemeClr val="tx1"/>
                </a:solidFill>
                <a:effectLst/>
                <a:latin typeface="Times New Roman" panose="02020603050405020304" pitchFamily="18" charset="0"/>
                <a:ea typeface="Times New Roman" panose="02020603050405020304" pitchFamily="18" charset="0"/>
                <a:hlinkClick r:id="rId6">
                  <a:extLst>
                    <a:ext uri="{A12FA001-AC4F-418D-AE19-62706E023703}">
                      <ahyp:hlinkClr xmlns:ahyp="http://schemas.microsoft.com/office/drawing/2018/hyperlinkcolor" val="tx"/>
                    </a:ext>
                  </a:extLst>
                </a:hlinkClick>
              </a:rPr>
              <a:t>VA </a:t>
            </a:r>
            <a:r>
              <a:rPr lang="en-US" sz="1800" u="sng" dirty="0" err="1">
                <a:solidFill>
                  <a:schemeClr val="tx1"/>
                </a:solidFill>
                <a:effectLst/>
                <a:latin typeface="Times New Roman" panose="02020603050405020304" pitchFamily="18" charset="0"/>
                <a:ea typeface="Times New Roman" panose="02020603050405020304" pitchFamily="18" charset="0"/>
                <a:hlinkClick r:id="rId6">
                  <a:extLst>
                    <a:ext uri="{A12FA001-AC4F-418D-AE19-62706E023703}">
                      <ahyp:hlinkClr xmlns:ahyp="http://schemas.microsoft.com/office/drawing/2018/hyperlinkcolor" val="tx"/>
                    </a:ext>
                  </a:extLst>
                </a:hlinkClick>
              </a:rPr>
              <a:t>Sudakov</a:t>
            </a:r>
            <a:r>
              <a:rPr lang="en-US" sz="1800" dirty="0" err="1">
                <a:solidFill>
                  <a:schemeClr val="tx1"/>
                </a:solidFill>
                <a:effectLst/>
                <a:latin typeface="Times New Roman" panose="02020603050405020304" pitchFamily="18" charset="0"/>
                <a:ea typeface="Times New Roman" panose="02020603050405020304" pitchFamily="18" charset="0"/>
              </a:rPr>
              <a:t>.”</a:t>
            </a:r>
            <a:r>
              <a:rPr lang="en-US" sz="1800" u="sng" dirty="0" err="1">
                <a:solidFill>
                  <a:schemeClr val="tx1"/>
                </a:solidFill>
                <a:effectLst/>
                <a:latin typeface="Times New Roman" panose="02020603050405020304" pitchFamily="18" charset="0"/>
                <a:ea typeface="Times New Roman" panose="02020603050405020304" pitchFamily="18" charset="0"/>
                <a:hlinkClick r:id="rId7">
                  <a:extLst>
                    <a:ext uri="{A12FA001-AC4F-418D-AE19-62706E023703}">
                      <ahyp:hlinkClr xmlns:ahyp="http://schemas.microsoft.com/office/drawing/2018/hyperlinkcolor" val="tx"/>
                    </a:ext>
                  </a:extLst>
                </a:hlinkClick>
              </a:rPr>
              <a:t>Forecasting</a:t>
            </a:r>
            <a:r>
              <a:rPr lang="en-US" sz="1800" u="sng" dirty="0">
                <a:solidFill>
                  <a:schemeClr val="tx1"/>
                </a:solidFill>
                <a:effectLst/>
                <a:latin typeface="Times New Roman" panose="02020603050405020304" pitchFamily="18" charset="0"/>
                <a:ea typeface="Times New Roman" panose="02020603050405020304" pitchFamily="18" charset="0"/>
                <a:hlinkClick r:id="rId7">
                  <a:extLst>
                    <a:ext uri="{A12FA001-AC4F-418D-AE19-62706E023703}">
                      <ahyp:hlinkClr xmlns:ahyp="http://schemas.microsoft.com/office/drawing/2018/hyperlinkcolor" val="tx"/>
                    </a:ext>
                  </a:extLst>
                </a:hlinkClick>
              </a:rPr>
              <a:t> new product demand using machine learning</a:t>
            </a:r>
            <a:r>
              <a:rPr lang="en-US" sz="1800" dirty="0">
                <a:solidFill>
                  <a:schemeClr val="tx1"/>
                </a:solidFill>
                <a:effectLst/>
                <a:latin typeface="Times New Roman" panose="02020603050405020304" pitchFamily="18" charset="0"/>
                <a:ea typeface="Times New Roman" panose="02020603050405020304" pitchFamily="18" charset="0"/>
              </a:rPr>
              <a:t>” Journal of Physics: Conference, 2021. </a:t>
            </a:r>
          </a:p>
          <a:p>
            <a:pPr marL="0" indent="0" algn="just">
              <a:lnSpc>
                <a:spcPct val="115000"/>
              </a:lnSpc>
              <a:buNone/>
            </a:pPr>
            <a:endParaRPr lang="en-US" sz="1800" dirty="0">
              <a:solidFill>
                <a:schemeClr val="tx1"/>
              </a:solidFill>
              <a:latin typeface="Times New Roman" panose="02020603050405020304" pitchFamily="18" charset="0"/>
              <a:ea typeface="Times New Roman" panose="02020603050405020304" pitchFamily="18" charset="0"/>
            </a:endParaRPr>
          </a:p>
          <a:p>
            <a:pPr marL="0" indent="0" algn="just">
              <a:lnSpc>
                <a:spcPct val="115000"/>
              </a:lnSpc>
              <a:buNone/>
            </a:pPr>
            <a:r>
              <a:rPr lang="en-US" sz="1800" dirty="0">
                <a:solidFill>
                  <a:schemeClr val="tx1"/>
                </a:solidFill>
                <a:effectLst/>
                <a:latin typeface="Times New Roman" panose="02020603050405020304" pitchFamily="18" charset="0"/>
                <a:ea typeface="Times New Roman" panose="02020603050405020304" pitchFamily="18" charset="0"/>
              </a:rPr>
              <a:t> [9]  </a:t>
            </a:r>
            <a:r>
              <a:rPr lang="en-US" sz="1800" b="0" dirty="0">
                <a:solidFill>
                  <a:schemeClr val="tx1"/>
                </a:solidFill>
                <a:effectLst/>
                <a:highlight>
                  <a:srgbClr val="FFFFFF"/>
                </a:highlight>
                <a:latin typeface="Times New Roman" panose="02020603050405020304" pitchFamily="18" charset="0"/>
                <a:ea typeface="Times New Roman" panose="02020603050405020304" pitchFamily="18" charset="0"/>
              </a:rPr>
              <a:t>N Malik, </a:t>
            </a:r>
            <a:r>
              <a:rPr lang="en-US" sz="1800" b="0" u="none" strike="noStrike" dirty="0">
                <a:solidFill>
                  <a:schemeClr val="tx1"/>
                </a:solidFill>
                <a:effectLst/>
                <a:highlight>
                  <a:srgbClr val="FFFFFF"/>
                </a:highlight>
                <a:latin typeface="Times New Roman" panose="02020603050405020304" pitchFamily="18" charset="0"/>
                <a:ea typeface="Times New Roman" panose="02020603050405020304" pitchFamily="18" charset="0"/>
                <a:hlinkClick r:id="rId8">
                  <a:extLst>
                    <a:ext uri="{A12FA001-AC4F-418D-AE19-62706E023703}">
                      <ahyp:hlinkClr xmlns:ahyp="http://schemas.microsoft.com/office/drawing/2018/hyperlinkcolor" val="tx"/>
                    </a:ext>
                  </a:extLst>
                </a:hlinkClick>
              </a:rPr>
              <a:t>K Singh</a:t>
            </a:r>
            <a:r>
              <a:rPr lang="en-US" sz="1800" b="0" dirty="0">
                <a:solidFill>
                  <a:schemeClr val="tx1"/>
                </a:solidFill>
                <a:effectLst/>
                <a:highlight>
                  <a:srgbClr val="FFFFFF"/>
                </a:highlight>
                <a:latin typeface="Times New Roman" panose="02020603050405020304" pitchFamily="18" charset="0"/>
                <a:ea typeface="Times New Roman" panose="02020603050405020304" pitchFamily="18" charset="0"/>
              </a:rPr>
              <a:t>.” </a:t>
            </a:r>
            <a:r>
              <a:rPr lang="en-US" sz="1800" b="0" u="none" strike="noStrike" dirty="0">
                <a:solidFill>
                  <a:schemeClr val="tx1"/>
                </a:solidFill>
                <a:effectLst/>
                <a:highlight>
                  <a:srgbClr val="FFFFFF"/>
                </a:highlight>
                <a:latin typeface="Times New Roman" panose="02020603050405020304" pitchFamily="18" charset="0"/>
                <a:ea typeface="Times New Roman" panose="02020603050405020304" pitchFamily="18" charset="0"/>
                <a:hlinkClick r:id="rId9">
                  <a:extLst>
                    <a:ext uri="{A12FA001-AC4F-418D-AE19-62706E023703}">
                      <ahyp:hlinkClr xmlns:ahyp="http://schemas.microsoft.com/office/drawing/2018/hyperlinkcolor" val="tx"/>
                    </a:ext>
                  </a:extLst>
                </a:hlinkClick>
              </a:rPr>
              <a:t>Sales prediction model for Big Mart</a:t>
            </a:r>
            <a:r>
              <a:rPr lang="en-US" sz="1800" b="0" dirty="0">
                <a:solidFill>
                  <a:schemeClr val="tx1"/>
                </a:solidFill>
                <a:effectLst/>
                <a:highlight>
                  <a:srgbClr val="FFFFFF"/>
                </a:highlight>
                <a:latin typeface="Times New Roman" panose="02020603050405020304" pitchFamily="18" charset="0"/>
                <a:ea typeface="Times New Roman" panose="02020603050405020304" pitchFamily="18" charset="0"/>
              </a:rPr>
              <a:t>”, 2020.</a:t>
            </a:r>
          </a:p>
          <a:p>
            <a:pPr marL="0" indent="0" algn="just">
              <a:lnSpc>
                <a:spcPct val="115000"/>
              </a:lnSpc>
              <a:buNone/>
            </a:pPr>
            <a:endParaRPr lang="en-US" sz="1800" dirty="0">
              <a:solidFill>
                <a:schemeClr val="tx1"/>
              </a:solidFill>
              <a:highlight>
                <a:srgbClr val="FFFFFF"/>
              </a:highlight>
              <a:latin typeface="Times New Roman" panose="02020603050405020304" pitchFamily="18" charset="0"/>
              <a:ea typeface="Times New Roman" panose="02020603050405020304" pitchFamily="18" charset="0"/>
            </a:endParaRPr>
          </a:p>
          <a:p>
            <a:pPr marL="0" indent="0" algn="just">
              <a:lnSpc>
                <a:spcPct val="115000"/>
              </a:lnSpc>
              <a:buNone/>
            </a:pPr>
            <a:r>
              <a:rPr lang="en-US" sz="1800" dirty="0">
                <a:solidFill>
                  <a:schemeClr val="tx1"/>
                </a:solidFill>
                <a:highlight>
                  <a:srgbClr val="FFFFFF"/>
                </a:highlight>
                <a:latin typeface="Times New Roman" panose="02020603050405020304" pitchFamily="18" charset="0"/>
                <a:ea typeface="Times New Roman" panose="02020603050405020304" pitchFamily="18" charset="0"/>
              </a:rPr>
              <a:t>[10] </a:t>
            </a:r>
            <a:r>
              <a:rPr lang="en-US" sz="1800" dirty="0">
                <a:solidFill>
                  <a:schemeClr val="tx1"/>
                </a:solidFill>
                <a:effectLst/>
                <a:latin typeface="Times New Roman" panose="02020603050405020304" pitchFamily="18" charset="0"/>
                <a:ea typeface="Times New Roman" panose="02020603050405020304" pitchFamily="18" charset="0"/>
              </a:rPr>
              <a:t>S </a:t>
            </a:r>
            <a:r>
              <a:rPr lang="en-US" sz="1800" dirty="0" err="1">
                <a:solidFill>
                  <a:schemeClr val="tx1"/>
                </a:solidFill>
                <a:effectLst/>
                <a:latin typeface="Times New Roman" panose="02020603050405020304" pitchFamily="18" charset="0"/>
                <a:ea typeface="Times New Roman" panose="02020603050405020304" pitchFamily="18" charset="0"/>
              </a:rPr>
              <a:t>Raizada</a:t>
            </a:r>
            <a:r>
              <a:rPr lang="en-US" sz="1800" dirty="0">
                <a:solidFill>
                  <a:schemeClr val="tx1"/>
                </a:solidFill>
                <a:effectLst/>
                <a:latin typeface="Times New Roman" panose="02020603050405020304" pitchFamily="18" charset="0"/>
                <a:ea typeface="Times New Roman" panose="02020603050405020304" pitchFamily="18" charset="0"/>
              </a:rPr>
              <a:t>, JR Saini  “</a:t>
            </a:r>
            <a:r>
              <a:rPr lang="en-US" sz="1800" u="sng" dirty="0">
                <a:solidFill>
                  <a:schemeClr val="tx1"/>
                </a:solidFill>
                <a:effectLst/>
                <a:latin typeface="Times New Roman" panose="02020603050405020304" pitchFamily="18" charset="0"/>
                <a:ea typeface="Times New Roman" panose="02020603050405020304" pitchFamily="18" charset="0"/>
                <a:hlinkClick r:id="rId10">
                  <a:extLst>
                    <a:ext uri="{A12FA001-AC4F-418D-AE19-62706E023703}">
                      <ahyp:hlinkClr xmlns:ahyp="http://schemas.microsoft.com/office/drawing/2018/hyperlinkcolor" val="tx"/>
                    </a:ext>
                  </a:extLst>
                </a:hlinkClick>
              </a:rPr>
              <a:t>Comparative analysis of supervised machine learning techniques for sales forecasting “, Journal of Advanced Computer Science,  2019.</a:t>
            </a:r>
            <a:endParaRPr lang="en-IN" sz="1800" dirty="0">
              <a:solidFill>
                <a:schemeClr val="tx1"/>
              </a:solidFill>
              <a:effectLst/>
              <a:highlight>
                <a:srgbClr val="FFFFFF"/>
              </a:highlight>
              <a:latin typeface="Times New Roman" panose="02020603050405020304" pitchFamily="18" charset="0"/>
              <a:ea typeface="Times New Roman" panose="02020603050405020304" pitchFamily="18" charset="0"/>
            </a:endParaRPr>
          </a:p>
          <a:p>
            <a:pPr marL="0" indent="0" algn="just">
              <a:lnSpc>
                <a:spcPct val="115000"/>
              </a:lnSpc>
              <a:buNone/>
            </a:pPr>
            <a:endParaRPr lang="en-IN" sz="1800" dirty="0">
              <a:solidFill>
                <a:schemeClr val="tx1"/>
              </a:solidFill>
              <a:effectLst/>
              <a:latin typeface="Times New Roman" panose="02020603050405020304" pitchFamily="18" charset="0"/>
              <a:ea typeface="Times New Roman" panose="02020603050405020304" pitchFamily="18" charset="0"/>
            </a:endParaRPr>
          </a:p>
          <a:p>
            <a:pPr marL="76200" indent="0">
              <a:buNone/>
            </a:pPr>
            <a:endParaRPr lang="en-IN" dirty="0">
              <a:solidFill>
                <a:schemeClr val="tx1"/>
              </a:solidFill>
            </a:endParaRPr>
          </a:p>
        </p:txBody>
      </p:sp>
    </p:spTree>
    <p:extLst>
      <p:ext uri="{BB962C8B-B14F-4D97-AF65-F5344CB8AC3E}">
        <p14:creationId xmlns:p14="http://schemas.microsoft.com/office/powerpoint/2010/main" val="2190906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CC272-9EB5-B19B-6764-E4578D65721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Text Placeholder 2">
            <a:extLst>
              <a:ext uri="{FF2B5EF4-FFF2-40B4-BE49-F238E27FC236}">
                <a16:creationId xmlns:a16="http://schemas.microsoft.com/office/drawing/2014/main" id="{5396FE98-E1EC-4356-43C2-259F0ED3376E}"/>
              </a:ext>
            </a:extLst>
          </p:cNvPr>
          <p:cNvSpPr>
            <a:spLocks noGrp="1"/>
          </p:cNvSpPr>
          <p:nvPr>
            <p:ph type="body" idx="1"/>
          </p:nvPr>
        </p:nvSpPr>
        <p:spPr/>
        <p:txBody>
          <a:bodyPr/>
          <a:lstStyle/>
          <a:p>
            <a:pPr marL="76200" indent="0">
              <a:buNone/>
            </a:pPr>
            <a:r>
              <a:rPr lang="en-IN" dirty="0">
                <a:latin typeface="Times New Roman" panose="02020603050405020304" pitchFamily="18" charset="0"/>
                <a:cs typeface="Times New Roman" panose="02020603050405020304" pitchFamily="18" charset="0"/>
              </a:rPr>
              <a:t>[11] </a:t>
            </a:r>
            <a:r>
              <a:rPr lang="en-US" sz="1800" u="sng" dirty="0">
                <a:solidFill>
                  <a:schemeClr val="tx1"/>
                </a:solidFill>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G Behera</a:t>
            </a:r>
            <a:r>
              <a:rPr lang="en-US" sz="1800" dirty="0">
                <a:solidFill>
                  <a:schemeClr val="tx1"/>
                </a:solidFill>
                <a:effectLst/>
                <a:latin typeface="Times New Roman" panose="02020603050405020304" pitchFamily="18" charset="0"/>
                <a:ea typeface="Times New Roman" panose="02020603050405020304" pitchFamily="18" charset="0"/>
              </a:rPr>
              <a:t>, </a:t>
            </a:r>
            <a:r>
              <a:rPr lang="en-US" sz="1800" u="sng" dirty="0">
                <a:solidFill>
                  <a:schemeClr val="tx1"/>
                </a:solidFill>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N Nain</a:t>
            </a:r>
            <a:r>
              <a:rPr lang="en-US" sz="1800" dirty="0">
                <a:solidFill>
                  <a:schemeClr val="tx1"/>
                </a:solidFill>
                <a:effectLst/>
                <a:latin typeface="Times New Roman" panose="02020603050405020304" pitchFamily="18" charset="0"/>
                <a:ea typeface="Times New Roman" panose="02020603050405020304" pitchFamily="18" charset="0"/>
              </a:rPr>
              <a:t>. ”</a:t>
            </a:r>
            <a:r>
              <a:rPr lang="en-US" sz="1800" u="sng" dirty="0">
                <a:solidFill>
                  <a:schemeClr val="tx1"/>
                </a:solidFill>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GSO based future sales prediction for big mart</a:t>
            </a:r>
            <a:r>
              <a:rPr lang="en-US" sz="1800" dirty="0">
                <a:solidFill>
                  <a:schemeClr val="tx1"/>
                </a:solidFill>
                <a:effectLst/>
                <a:latin typeface="Times New Roman" panose="02020603050405020304" pitchFamily="18" charset="0"/>
                <a:ea typeface="Times New Roman" panose="02020603050405020304" pitchFamily="18" charset="0"/>
              </a:rPr>
              <a:t>”, Conference on Signal-Image Technology,  2019.</a:t>
            </a:r>
          </a:p>
          <a:p>
            <a:pPr marL="76200" indent="0">
              <a:buNone/>
            </a:pPr>
            <a:endParaRPr lang="en-US" sz="1800" dirty="0">
              <a:solidFill>
                <a:schemeClr val="tx1"/>
              </a:solidFill>
              <a:latin typeface="Times New Roman" panose="02020603050405020304" pitchFamily="18" charset="0"/>
              <a:cs typeface="Times New Roman" panose="02020603050405020304" pitchFamily="18" charset="0"/>
            </a:endParaRPr>
          </a:p>
          <a:p>
            <a:pPr marL="76200" indent="0">
              <a:buNone/>
            </a:pPr>
            <a:r>
              <a:rPr lang="en-US" sz="1800" dirty="0">
                <a:solidFill>
                  <a:schemeClr val="tx1"/>
                </a:solidFill>
                <a:latin typeface="Times New Roman" panose="02020603050405020304" pitchFamily="18" charset="0"/>
                <a:cs typeface="Times New Roman" panose="02020603050405020304" pitchFamily="18" charset="0"/>
              </a:rPr>
              <a:t>[12] </a:t>
            </a:r>
            <a:r>
              <a:rPr lang="en-US" sz="1800" dirty="0">
                <a:solidFill>
                  <a:schemeClr val="tx1"/>
                </a:solidFill>
                <a:effectLst/>
                <a:latin typeface="Times New Roman" panose="02020603050405020304" pitchFamily="18" charset="0"/>
                <a:ea typeface="Times New Roman" panose="02020603050405020304" pitchFamily="18" charset="0"/>
              </a:rPr>
              <a:t>K Punam, R </a:t>
            </a:r>
            <a:r>
              <a:rPr lang="en-US" sz="1800" dirty="0" err="1">
                <a:solidFill>
                  <a:schemeClr val="tx1"/>
                </a:solidFill>
                <a:effectLst/>
                <a:latin typeface="Times New Roman" panose="02020603050405020304" pitchFamily="18" charset="0"/>
                <a:ea typeface="Times New Roman" panose="02020603050405020304" pitchFamily="18" charset="0"/>
              </a:rPr>
              <a:t>pamula</a:t>
            </a:r>
            <a:r>
              <a:rPr lang="en-US" sz="1800" dirty="0">
                <a:solidFill>
                  <a:schemeClr val="tx1"/>
                </a:solidFill>
                <a:effectLst/>
                <a:latin typeface="Times New Roman" panose="02020603050405020304" pitchFamily="18" charset="0"/>
                <a:ea typeface="Times New Roman" panose="02020603050405020304" pitchFamily="18" charset="0"/>
              </a:rPr>
              <a:t>, PK Jain. ”</a:t>
            </a:r>
            <a:r>
              <a:rPr lang="en-US" sz="1800" u="sng" dirty="0">
                <a:solidFill>
                  <a:schemeClr val="tx1"/>
                </a:solidFill>
                <a:effectLst/>
                <a:latin typeface="Times New Roman" panose="02020603050405020304" pitchFamily="18" charset="0"/>
                <a:ea typeface="Times New Roman" panose="02020603050405020304" pitchFamily="18" charset="0"/>
                <a:hlinkClick r:id="rId5">
                  <a:extLst>
                    <a:ext uri="{A12FA001-AC4F-418D-AE19-62706E023703}">
                      <ahyp:hlinkClr xmlns:ahyp="http://schemas.microsoft.com/office/drawing/2018/hyperlinkcolor" val="tx"/>
                    </a:ext>
                  </a:extLst>
                </a:hlinkClick>
              </a:rPr>
              <a:t>A two-level statistical model for big mart sales prediction</a:t>
            </a:r>
            <a:r>
              <a:rPr lang="en-US" sz="1800" dirty="0">
                <a:solidFill>
                  <a:schemeClr val="tx1"/>
                </a:solidFill>
                <a:effectLst/>
                <a:latin typeface="Times New Roman" panose="02020603050405020304" pitchFamily="18" charset="0"/>
                <a:ea typeface="Times New Roman" panose="02020603050405020304" pitchFamily="18" charset="0"/>
              </a:rPr>
              <a:t>”, 2018.</a:t>
            </a:r>
          </a:p>
          <a:p>
            <a:pPr marL="76200" indent="0">
              <a:buNone/>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8382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6"/>
          <p:cNvSpPr/>
          <p:nvPr/>
        </p:nvSpPr>
        <p:spPr>
          <a:xfrm>
            <a:off x="324465" y="2340665"/>
            <a:ext cx="8178393" cy="1569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600"/>
              <a:buFont typeface="Arial"/>
              <a:buNone/>
            </a:pPr>
            <a:r>
              <a:rPr lang="en-US" sz="9600" dirty="0">
                <a:solidFill>
                  <a:schemeClr val="dk1"/>
                </a:solidFill>
                <a:latin typeface="Calibri"/>
                <a:ea typeface="Calibri"/>
                <a:cs typeface="Calibri"/>
                <a:sym typeface="Calibri"/>
              </a:rPr>
              <a:t>  </a:t>
            </a:r>
            <a:r>
              <a:rPr lang="en-US" sz="9600" dirty="0">
                <a:solidFill>
                  <a:schemeClr val="dk1"/>
                </a:solidFill>
                <a:latin typeface="Times New Roman" panose="02020603050405020304" pitchFamily="18" charset="0"/>
                <a:ea typeface="Calibri"/>
                <a:cs typeface="Times New Roman" panose="02020603050405020304" pitchFamily="18" charset="0"/>
                <a:sym typeface="Calibri"/>
              </a:rPr>
              <a:t>THANK YOU</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TotalTime>
  <Words>1612</Words>
  <Application>Microsoft Office PowerPoint</Application>
  <PresentationFormat>On-screen Show (4:3)</PresentationFormat>
  <Paragraphs>165</Paragraphs>
  <Slides>19</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Times New Roman</vt:lpstr>
      <vt:lpstr>Open Sans ExtraBold</vt:lpstr>
      <vt:lpstr>Symbol</vt:lpstr>
      <vt:lpstr>Arial MT</vt:lpstr>
      <vt:lpstr>Calibri</vt:lpstr>
      <vt:lpstr>Arial</vt:lpstr>
      <vt:lpstr>Noto Sans Symbols</vt:lpstr>
      <vt:lpstr>Office Theme</vt:lpstr>
      <vt:lpstr>PowerPoint Presentation</vt:lpstr>
      <vt:lpstr>AGENDA</vt:lpstr>
      <vt:lpstr>ABSTRACT</vt:lpstr>
      <vt:lpstr>INTRODUCTION</vt:lpstr>
      <vt:lpstr>LITERATURE SURVEY</vt:lpstr>
      <vt:lpstr>LITERATURE SURVEY</vt:lpstr>
      <vt:lpstr>EXISTING SYSTEM</vt:lpstr>
      <vt:lpstr>PROPOSED SYSTEM</vt:lpstr>
      <vt:lpstr>PROPOSED METHODOLOGY</vt:lpstr>
      <vt:lpstr>RESULTS AND DISCUSSIONS</vt:lpstr>
      <vt:lpstr>RESULTS AND DISCUSSION</vt:lpstr>
      <vt:lpstr>OUTPUT</vt:lpstr>
      <vt:lpstr>COMPARATIVE ANALYSIS</vt:lpstr>
      <vt:lpstr>CONCLUSION</vt:lpstr>
      <vt:lpstr>FUTURE ENHANCEMENT</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KB VIMAL</dc:creator>
  <cp:lastModifiedBy>Vimal K B</cp:lastModifiedBy>
  <cp:revision>3</cp:revision>
  <dcterms:modified xsi:type="dcterms:W3CDTF">2024-05-24T17:56:21Z</dcterms:modified>
</cp:coreProperties>
</file>